
<file path=[Content_Types].xml><?xml version="1.0" encoding="utf-8"?>
<Types xmlns="http://schemas.openxmlformats.org/package/2006/content-types">
  <Default ContentType="application/vnd.openxmlformats-officedocument.spreadsheetml.sheet" Extension="xlsx"/>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7ACDhesd8Q2CiTAR5eimE2K6T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Nominal TRY (₺B)</c:v>
                </c:pt>
              </c:strCache>
            </c:strRef>
          </c:tx>
          <c:spPr>
            <a:solidFill>
              <a:srgbClr val="94A3B8"/>
            </a:solidFill>
            <a:ln w="38100" cap="flat">
              <a:solidFill>
                <a:srgbClr val="94A3B8"/>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dLblPos val="t"/>
            <c:showLegendKey val="0"/>
            <c:showVal val="1"/>
            <c:showCatName val="0"/>
            <c:showSerName val="0"/>
            <c:showPercent val="0"/>
            <c:showBubbleSize val="0"/>
            <c:showLeaderLines val="0"/>
          </c:dLbls>
          <c:marker>
            <c:symbol val="circle"/>
            <c:size val="6"/>
            <c:spPr>
              <a:solidFill>
                <a:srgbClr val="94A3B8"/>
              </a:solidFill>
              <a:ln w="9525" cap="flat">
                <a:solidFill>
                  <a:srgbClr val="94A3B8"/>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Sheet1!$B$2:$B$5</c:f>
              <c:numCache>
                <c:formatCode>General</c:formatCode>
                <c:ptCount val="4"/>
                <c:pt idx="0">
                  <c:v>27.85</c:v>
                </c:pt>
                <c:pt idx="1">
                  <c:v>29.02</c:v>
                </c:pt>
                <c:pt idx="2">
                  <c:v>40.59</c:v>
                </c:pt>
                <c:pt idx="3">
                  <c:v>49.99</c:v>
                </c:pt>
              </c:numCache>
            </c:numRef>
          </c:val>
          <c:smooth val="0"/>
        </c:ser>
        <c:ser>
          <c:idx val="1"/>
          <c:order val="1"/>
          <c:tx>
            <c:strRef>
              <c:f>Sheet1!$C$1</c:f>
              <c:strCache>
                <c:ptCount val="1"/>
                <c:pt idx="0">
                  <c:v>Real 2023 TRY (₺B)</c:v>
                </c:pt>
              </c:strCache>
            </c:strRef>
          </c:tx>
          <c:spPr>
            <a:solidFill>
              <a:srgbClr val="1A9E6E"/>
            </a:solidFill>
            <a:ln w="38100" cap="flat">
              <a:solidFill>
                <a:srgbClr val="1A9E6E"/>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dLblPos val="t"/>
            <c:showLegendKey val="0"/>
            <c:showVal val="1"/>
            <c:showCatName val="0"/>
            <c:showSerName val="0"/>
            <c:showPercent val="0"/>
            <c:showBubbleSize val="0"/>
            <c:showLeaderLines val="0"/>
          </c:dLbls>
          <c:marker>
            <c:symbol val="circle"/>
            <c:size val="6"/>
            <c:spPr>
              <a:solidFill>
                <a:srgbClr val="1A9E6E"/>
              </a:solidFill>
              <a:ln w="9525" cap="flat">
                <a:solidFill>
                  <a:srgbClr val="1A9E6E"/>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Sheet1!$C$2:$C$5</c:f>
              <c:numCache>
                <c:formatCode>General</c:formatCode>
                <c:ptCount val="4"/>
                <c:pt idx="0">
                  <c:v>88.31</c:v>
                </c:pt>
                <c:pt idx="1">
                  <c:v>76.95</c:v>
                </c:pt>
                <c:pt idx="2">
                  <c:v>62.47</c:v>
                </c:pt>
                <c:pt idx="3">
                  <c:v>49.99</c:v>
                </c:pt>
              </c:numCache>
            </c:numRef>
          </c:val>
          <c:smooth val="0"/>
        </c:ser>
        <c:dLbls>
          <c:numFmt formatCode="#,##0" sourceLinked="0"/>
          <c:txPr>
            <a:bodyPr/>
            <a:lstStyle/>
            <a:p>
              <a:pPr>
                <a:defRPr b="0" i="0" strike="noStrike" sz="900" u="none">
                  <a:solidFill>
                    <a:srgbClr val="1E293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8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 2023 TRY (₺B)</c:v>
                </c:pt>
              </c:strCache>
            </c:strRef>
          </c:tx>
          <c:spPr>
            <a:solidFill>
              <a:srgbClr val="1A9E6E"/>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A9E6E"/>
              </a:solidFill>
              <a:effectLst/>
            </c:spPr>
          </c:dPt>
          <c:dPt>
            <c:idx val="1"/>
            <c:invertIfNegative val="0"/>
            <c:bubble3D val="0"/>
            <c:spPr>
              <a:solidFill>
                <a:srgbClr val="0D6E6E"/>
              </a:solidFill>
              <a:effectLst/>
            </c:spPr>
          </c:dPt>
          <c:dPt>
            <c:idx val="2"/>
            <c:invertIfNegative val="0"/>
            <c:bubble3D val="0"/>
            <c:spPr>
              <a:solidFill>
                <a:srgbClr val="0A1628"/>
              </a:solidFill>
              <a:effectLst/>
            </c:spPr>
          </c:dPt>
          <c:dPt>
            <c:idx val="3"/>
            <c:invertIfNegative val="0"/>
            <c:bubble3D val="0"/>
            <c:spPr>
              <a:solidFill>
                <a:srgbClr val="D4AF37"/>
              </a:solidFill>
              <a:effectLst/>
            </c:spPr>
          </c:dPt>
          <c:dPt>
            <c:idx val="4"/>
            <c:invertIfNegative val="0"/>
            <c:bubble3D val="0"/>
            <c:spPr>
              <a:solidFill>
                <a:srgbClr val="94A3B8"/>
              </a:solidFill>
              <a:effectLst/>
            </c:spPr>
          </c:dPt>
          <c:cat>
            <c:multiLvlStrRef>
              <c:f>Sheet1!$A$2:$A$6</c:f>
              <c:multiLvlStrCache>
                <c:ptCount val="5"/>
                <c:lvl>
                  <c:pt idx="0">
                    <c:v>Fuel</c:v>
                  </c:pt>
                  <c:pt idx="1">
                    <c:v>Oil</c:v>
                  </c:pt>
                  <c:pt idx="2">
                    <c:v>Coal</c:v>
                  </c:pt>
                  <c:pt idx="3">
                    <c:v>Natural Gas</c:v>
                  </c:pt>
                  <c:pt idx="4">
                    <c:v>General FF</c:v>
                  </c:pt>
                </c:lvl>
              </c:multiLvlStrCache>
            </c:multiLvlStrRef>
          </c:cat>
          <c:val>
            <c:numRef>
              <c:f>Sheet1!$B$2:$B$6</c:f>
              <c:numCache>
                <c:formatCode>General</c:formatCode>
                <c:ptCount val="5"/>
                <c:pt idx="0">
                  <c:v>130.24</c:v>
                </c:pt>
                <c:pt idx="1">
                  <c:v>60.7</c:v>
                </c:pt>
                <c:pt idx="2">
                  <c:v>47.17</c:v>
                </c:pt>
                <c:pt idx="3">
                  <c:v>21.49</c:v>
                </c:pt>
                <c:pt idx="4">
                  <c:v>18.13</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8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Fuel</c:v>
                </c:pt>
              </c:strCache>
            </c:strRef>
          </c:tx>
          <c:spPr>
            <a:solidFill>
              <a:srgbClr val="1A9E6E"/>
            </a:solidFill>
            <a:ln w="31750" cap="flat">
              <a:solidFill>
                <a:srgbClr val="1A9E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A9E6E"/>
              </a:solidFill>
              <a:ln w="9525" cap="flat">
                <a:solidFill>
                  <a:srgbClr val="1A9E6E"/>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Sheet1!$B$2:$B$5</c:f>
              <c:numCache>
                <c:formatCode>General</c:formatCode>
                <c:ptCount val="4"/>
                <c:pt idx="0">
                  <c:v>47.82</c:v>
                </c:pt>
                <c:pt idx="1">
                  <c:v>38.75</c:v>
                </c:pt>
                <c:pt idx="2">
                  <c:v>23.94</c:v>
                </c:pt>
                <c:pt idx="3">
                  <c:v>19.73</c:v>
                </c:pt>
              </c:numCache>
            </c:numRef>
          </c:val>
          <c:smooth val="0"/>
        </c:ser>
        <c:ser>
          <c:idx val="1"/>
          <c:order val="1"/>
          <c:tx>
            <c:strRef>
              <c:f>Sheet1!$C$1</c:f>
              <c:strCache>
                <c:ptCount val="1"/>
                <c:pt idx="0">
                  <c:v>Oil</c:v>
                </c:pt>
              </c:strCache>
            </c:strRef>
          </c:tx>
          <c:spPr>
            <a:solidFill>
              <a:srgbClr val="0D6E6E"/>
            </a:solidFill>
            <a:ln w="31750" cap="flat">
              <a:solidFill>
                <a:srgbClr val="0D6E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6E6E"/>
              </a:solidFill>
              <a:ln w="9525" cap="flat">
                <a:solidFill>
                  <a:srgbClr val="0D6E6E"/>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Sheet1!$C$2:$C$5</c:f>
              <c:numCache>
                <c:formatCode>General</c:formatCode>
                <c:ptCount val="4"/>
                <c:pt idx="0">
                  <c:v>13.51</c:v>
                </c:pt>
                <c:pt idx="1">
                  <c:v>12.81</c:v>
                </c:pt>
                <c:pt idx="2">
                  <c:v>21.26</c:v>
                </c:pt>
                <c:pt idx="3">
                  <c:v>13.11</c:v>
                </c:pt>
              </c:numCache>
            </c:numRef>
          </c:val>
          <c:smooth val="0"/>
        </c:ser>
        <c:ser>
          <c:idx val="2"/>
          <c:order val="2"/>
          <c:tx>
            <c:strRef>
              <c:f>Sheet1!$D$1</c:f>
              <c:strCache>
                <c:ptCount val="1"/>
                <c:pt idx="0">
                  <c:v>Coal</c:v>
                </c:pt>
              </c:strCache>
            </c:strRef>
          </c:tx>
          <c:spPr>
            <a:solidFill>
              <a:srgbClr val="0A1628"/>
            </a:solidFill>
            <a:ln w="31750" cap="flat">
              <a:solidFill>
                <a:srgbClr val="0A162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A1628"/>
              </a:solidFill>
              <a:ln w="9525" cap="flat">
                <a:solidFill>
                  <a:srgbClr val="0A1628"/>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Sheet1!$D$2:$D$5</c:f>
              <c:numCache>
                <c:formatCode>General</c:formatCode>
                <c:ptCount val="4"/>
                <c:pt idx="0">
                  <c:v>17.54</c:v>
                </c:pt>
                <c:pt idx="1">
                  <c:v>15.34</c:v>
                </c:pt>
                <c:pt idx="2">
                  <c:v>9.37</c:v>
                </c:pt>
                <c:pt idx="3">
                  <c:v>4.93</c:v>
                </c:pt>
              </c:numCache>
            </c:numRef>
          </c:val>
          <c:smooth val="0"/>
        </c:ser>
        <c:ser>
          <c:idx val="3"/>
          <c:order val="3"/>
          <c:tx>
            <c:strRef>
              <c:f>Sheet1!$E$1</c:f>
              <c:strCache>
                <c:ptCount val="1"/>
                <c:pt idx="0">
                  <c:v>Natural Gas</c:v>
                </c:pt>
              </c:strCache>
            </c:strRef>
          </c:tx>
          <c:spPr>
            <a:solidFill>
              <a:srgbClr val="D4AF37"/>
            </a:solidFill>
            <a:ln w="31750" cap="flat">
              <a:solidFill>
                <a:srgbClr val="D4AF3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4AF37"/>
              </a:solidFill>
              <a:ln w="9525" cap="flat">
                <a:solidFill>
                  <a:srgbClr val="D4AF37"/>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Sheet1!$E$2:$E$5</c:f>
              <c:numCache>
                <c:formatCode>General</c:formatCode>
                <c:ptCount val="4"/>
                <c:pt idx="0">
                  <c:v>6.48</c:v>
                </c:pt>
                <c:pt idx="1">
                  <c:v>7.14</c:v>
                </c:pt>
                <c:pt idx="2">
                  <c:v>4.2</c:v>
                </c:pt>
                <c:pt idx="3">
                  <c:v>3.67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8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TE_12 Naphtha</c:v>
                </c:pt>
              </c:strCache>
            </c:strRef>
          </c:tx>
          <c:spPr>
            <a:solidFill>
              <a:srgbClr val="1A9E6E"/>
            </a:solidFill>
            <a:ln w="31750" cap="flat">
              <a:solidFill>
                <a:srgbClr val="1A9E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A9E6E"/>
              </a:solidFill>
              <a:ln w="9525" cap="flat">
                <a:solidFill>
                  <a:srgbClr val="1A9E6E"/>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Sheet1!$B$2:$B$5</c:f>
              <c:numCache>
                <c:formatCode>General</c:formatCode>
                <c:ptCount val="4"/>
                <c:pt idx="0">
                  <c:v>26.74</c:v>
                </c:pt>
                <c:pt idx="1">
                  <c:v>19.71</c:v>
                </c:pt>
                <c:pt idx="2">
                  <c:v>10.31</c:v>
                </c:pt>
                <c:pt idx="3">
                  <c:v>8.38</c:v>
                </c:pt>
              </c:numCache>
            </c:numRef>
          </c:val>
          <c:smooth val="0"/>
        </c:ser>
        <c:ser>
          <c:idx val="1"/>
          <c:order val="1"/>
          <c:tx>
            <c:strRef>
              <c:f>Sheet1!$C$1</c:f>
              <c:strCache>
                <c:ptCount val="1"/>
                <c:pt idx="0">
                  <c:v>TE_04 Oil Expl.</c:v>
                </c:pt>
              </c:strCache>
            </c:strRef>
          </c:tx>
          <c:spPr>
            <a:solidFill>
              <a:srgbClr val="0D6E6E"/>
            </a:solidFill>
            <a:ln w="31750" cap="flat">
              <a:solidFill>
                <a:srgbClr val="0D6E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6E6E"/>
              </a:solidFill>
              <a:ln w="9525" cap="flat">
                <a:solidFill>
                  <a:srgbClr val="0D6E6E"/>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Sheet1!$C$2:$C$5</c:f>
              <c:numCache>
                <c:formatCode>General</c:formatCode>
                <c:ptCount val="4"/>
                <c:pt idx="0">
                  <c:v>2.35</c:v>
                </c:pt>
                <c:pt idx="1">
                  <c:v>3.48</c:v>
                </c:pt>
                <c:pt idx="2">
                  <c:v>15.84</c:v>
                </c:pt>
                <c:pt idx="3">
                  <c:v>9.6</c:v>
                </c:pt>
              </c:numCache>
            </c:numRef>
          </c:val>
          <c:smooth val="0"/>
        </c:ser>
        <c:ser>
          <c:idx val="2"/>
          <c:order val="2"/>
          <c:tx>
            <c:strRef>
              <c:f>Sheet1!$D$1</c:f>
              <c:strCache>
                <c:ptCount val="1"/>
                <c:pt idx="0">
                  <c:v>TE_07 Aviation</c:v>
                </c:pt>
              </c:strCache>
            </c:strRef>
          </c:tx>
          <c:spPr>
            <a:solidFill>
              <a:srgbClr val="D4AF37"/>
            </a:solidFill>
            <a:ln w="31750" cap="flat">
              <a:solidFill>
                <a:srgbClr val="D4AF3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4AF37"/>
              </a:solidFill>
              <a:ln w="9525" cap="flat">
                <a:solidFill>
                  <a:srgbClr val="D4AF37"/>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Sheet1!$D$2:$D$5</c:f>
              <c:numCache>
                <c:formatCode>General</c:formatCode>
                <c:ptCount val="4"/>
                <c:pt idx="0">
                  <c:v>7.11</c:v>
                </c:pt>
                <c:pt idx="1">
                  <c:v>10.04</c:v>
                </c:pt>
                <c:pt idx="2">
                  <c:v>7.29</c:v>
                </c:pt>
                <c:pt idx="3">
                  <c:v>5.55</c:v>
                </c:pt>
              </c:numCache>
            </c:numRef>
          </c:val>
          <c:smooth val="0"/>
        </c:ser>
        <c:ser>
          <c:idx val="3"/>
          <c:order val="3"/>
          <c:tx>
            <c:strRef>
              <c:f>Sheet1!$E$1</c:f>
              <c:strCache>
                <c:ptCount val="1"/>
                <c:pt idx="0">
                  <c:v>DT_05 Coal Plants</c:v>
                </c:pt>
              </c:strCache>
            </c:strRef>
          </c:tx>
          <c:spPr>
            <a:solidFill>
              <a:srgbClr val="0A1628"/>
            </a:solidFill>
            <a:ln w="31750" cap="flat">
              <a:solidFill>
                <a:srgbClr val="0A162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A1628"/>
              </a:solidFill>
              <a:ln w="9525" cap="flat">
                <a:solidFill>
                  <a:srgbClr val="0A1628"/>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Sheet1!$E$2:$E$5</c:f>
              <c:numCache>
                <c:formatCode>General</c:formatCode>
                <c:ptCount val="4"/>
                <c:pt idx="0">
                  <c:v>8.93</c:v>
                </c:pt>
                <c:pt idx="1">
                  <c:v>7.46</c:v>
                </c:pt>
                <c:pt idx="2">
                  <c:v>4.33</c:v>
                </c:pt>
                <c:pt idx="3">
                  <c:v>2.81</c:v>
                </c:pt>
              </c:numCache>
            </c:numRef>
          </c:val>
          <c:smooth val="0"/>
        </c:ser>
        <c:ser>
          <c:idx val="4"/>
          <c:order val="4"/>
          <c:tx>
            <c:strRef>
              <c:f>Sheet1!$F$1</c:f>
              <c:strCache>
                <c:ptCount val="1"/>
                <c:pt idx="0">
                  <c:v>DT_09 Natural Gas</c:v>
                </c:pt>
              </c:strCache>
            </c:strRef>
          </c:tx>
          <c:spPr>
            <a:solidFill>
              <a:srgbClr val="94A3B8"/>
            </a:solidFill>
            <a:ln w="31750" cap="flat">
              <a:solidFill>
                <a:srgbClr val="94A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4A3B8"/>
              </a:solidFill>
              <a:ln w="9525" cap="flat">
                <a:solidFill>
                  <a:srgbClr val="94A3B8"/>
                </a:solidFill>
                <a:prstDash val="solid"/>
                <a:round/>
              </a:ln>
              <a:effectLst/>
            </c:spPr>
          </c:marker>
          <c:cat>
            <c:multiLvlStrRef>
              <c:f>Sheet1!$A$2:$A$5</c:f>
              <c:multiLvlStrCache>
                <c:ptCount val="4"/>
                <c:lvl>
                  <c:pt idx="0">
                    <c:v>2020</c:v>
                  </c:pt>
                  <c:pt idx="1">
                    <c:v>2021</c:v>
                  </c:pt>
                  <c:pt idx="2">
                    <c:v>2022</c:v>
                  </c:pt>
                  <c:pt idx="3">
                    <c:v>2023</c:v>
                  </c:pt>
                </c:lvl>
              </c:multiLvlStrCache>
            </c:multiLvlStrRef>
          </c:cat>
          <c:val>
            <c:numRef>
              <c:f>Sheet1!$F$2:$F$5</c:f>
              <c:numCache>
                <c:formatCode>General</c:formatCode>
                <c:ptCount val="4"/>
                <c:pt idx="0">
                  <c:v>6.48</c:v>
                </c:pt>
                <c:pt idx="1">
                  <c:v>7.14</c:v>
                </c:pt>
                <c:pt idx="2">
                  <c:v>4.2</c:v>
                </c:pt>
                <c:pt idx="3">
                  <c:v>3.67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8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Support Mechanism</c:v>
                </c:pt>
              </c:strCache>
            </c:strRef>
          </c:tx>
          <c:spPr>
            <a:solidFill>
              <a:schemeClr val="accent1"/>
            </a:solidFill>
            <a:ln w="9525" cap="flat">
              <a:solidFill>
                <a:srgbClr val="F9F9F9"/>
              </a:solidFill>
              <a:prstDash val="solid"/>
              <a:round/>
            </a:ln>
            <a:effectLst/>
          </c:spPr>
          <c:dPt>
            <c:idx val="0"/>
            <c:bubble3D val="0"/>
            <c:spPr>
              <a:solidFill>
                <a:srgbClr val="1A9E6E"/>
              </a:solidFill>
              <a:effectLst/>
            </c:spPr>
          </c:dPt>
          <c:dPt>
            <c:idx val="1"/>
            <c:bubble3D val="0"/>
            <c:spPr>
              <a:solidFill>
                <a:srgbClr val="0A1628"/>
              </a:solidFill>
              <a:effectLst/>
            </c:spPr>
          </c:dPt>
          <c:dLbls>
            <c:dLbl>
              <c:idx val="0"/>
              <c:numFmt formatCode="0%" sourceLinked="0"/>
              <c:spPr/>
              <c:txPr>
                <a:bodyPr/>
                <a:lstStyle/>
                <a:p>
                  <a:pPr>
                    <a:defRPr sz="13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Tax Relief</c:v>
                </c:pt>
                <c:pt idx="1">
                  <c:v>Direct Transfers</c:v>
                </c:pt>
              </c:strCache>
            </c:strRef>
          </c:cat>
          <c:val>
            <c:numRef>
              <c:f>Sheet1!$B$2:$B$3</c:f>
              <c:numCache>
                <c:ptCount val="2"/>
                <c:pt idx="0">
                  <c:v>75</c:v>
                </c:pt>
                <c:pt idx="1">
                  <c:v>25</c:v>
                </c:pt>
              </c:numCache>
            </c:numRef>
          </c:val>
        </c:ser>
        <c:firstSliceAng val="0"/>
        <c:holeSize val="55"/>
      </c:doughnutChart>
      <c:spPr>
        <a:noFill/>
        <a:ln>
          <a:noFill/>
        </a:ln>
        <a:effectLst/>
      </c:spPr>
    </c:plotArea>
    <c:legend>
      <c:legendPos val="b"/>
      <c:overlay val="0"/>
      <c:txPr>
        <a:bodyPr/>
        <a:lstStyle/>
        <a:p>
          <a:pPr>
            <a:defRPr sz="100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Tax Relief</c:v>
                </c:pt>
              </c:strCache>
            </c:strRef>
          </c:tx>
          <c:spPr>
            <a:solidFill>
              <a:srgbClr val="1A9E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Fuel</c:v>
                  </c:pt>
                  <c:pt idx="1">
                    <c:v>Oil</c:v>
                  </c:pt>
                  <c:pt idx="2">
                    <c:v>Coal</c:v>
                  </c:pt>
                  <c:pt idx="3">
                    <c:v>Natural Gas</c:v>
                  </c:pt>
                </c:lvl>
              </c:multiLvlStrCache>
            </c:multiLvlStrRef>
          </c:cat>
          <c:val>
            <c:numRef>
              <c:f>Sheet1!$B$2:$B$5</c:f>
              <c:numCache>
                <c:formatCode>General</c:formatCode>
                <c:ptCount val="4"/>
                <c:pt idx="0">
                  <c:v>130.24</c:v>
                </c:pt>
                <c:pt idx="1">
                  <c:v>60.7</c:v>
                </c:pt>
                <c:pt idx="2">
                  <c:v>0</c:v>
                </c:pt>
                <c:pt idx="3">
                  <c:v>0</c:v>
                </c:pt>
              </c:numCache>
            </c:numRef>
          </c:val>
        </c:ser>
        <c:ser>
          <c:idx val="1"/>
          <c:order val="1"/>
          <c:tx>
            <c:strRef>
              <c:f>Sheet1!$C$1</c:f>
              <c:strCache>
                <c:ptCount val="1"/>
                <c:pt idx="0">
                  <c:v>Direct Transfers</c:v>
                </c:pt>
              </c:strCache>
            </c:strRef>
          </c:tx>
          <c:spPr>
            <a:solidFill>
              <a:srgbClr val="0A162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Fuel</c:v>
                  </c:pt>
                  <c:pt idx="1">
                    <c:v>Oil</c:v>
                  </c:pt>
                  <c:pt idx="2">
                    <c:v>Coal</c:v>
                  </c:pt>
                  <c:pt idx="3">
                    <c:v>Natural Gas</c:v>
                  </c:pt>
                </c:lvl>
              </c:multiLvlStrCache>
            </c:multiLvlStrRef>
          </c:cat>
          <c:val>
            <c:numRef>
              <c:f>Sheet1!$C$2:$C$5</c:f>
              <c:numCache>
                <c:formatCode>General</c:formatCode>
                <c:ptCount val="4"/>
                <c:pt idx="0">
                  <c:v>0</c:v>
                </c:pt>
                <c:pt idx="1">
                  <c:v>0</c:v>
                </c:pt>
                <c:pt idx="2">
                  <c:v>47.17</c:v>
                </c:pt>
                <c:pt idx="3">
                  <c:v>21.49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8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Real 2023 TRY (₺B)</c:v>
                </c:pt>
              </c:strCache>
            </c:strRef>
          </c:tx>
          <c:spPr>
            <a:solidFill>
              <a:srgbClr val="1A9E6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TE_12</c:v>
                  </c:pt>
                  <c:pt idx="1">
                    <c:v>TE_04</c:v>
                  </c:pt>
                  <c:pt idx="2">
                    <c:v>TE_07</c:v>
                  </c:pt>
                  <c:pt idx="3">
                    <c:v>DT_05</c:v>
                  </c:pt>
                  <c:pt idx="4">
                    <c:v>DT_09</c:v>
                  </c:pt>
                  <c:pt idx="5">
                    <c:v>TE_05</c:v>
                  </c:pt>
                  <c:pt idx="6">
                    <c:v>TE_08</c:v>
                  </c:pt>
                  <c:pt idx="7">
                    <c:v>DT_01</c:v>
                  </c:pt>
                  <c:pt idx="8">
                    <c:v>TE_09</c:v>
                  </c:pt>
                  <c:pt idx="9">
                    <c:v>DT_02</c:v>
                  </c:pt>
                </c:lvl>
              </c:multiLvlStrCache>
            </c:multiLvlStrRef>
          </c:cat>
          <c:val>
            <c:numRef>
              <c:f>Sheet1!$B$2:$B$11</c:f>
              <c:numCache>
                <c:formatCode>General</c:formatCode>
                <c:ptCount val="10"/>
                <c:pt idx="0">
                  <c:v>65.14</c:v>
                </c:pt>
                <c:pt idx="1">
                  <c:v>31.27</c:v>
                </c:pt>
                <c:pt idx="2">
                  <c:v>29.99</c:v>
                </c:pt>
                <c:pt idx="3">
                  <c:v>23.54</c:v>
                </c:pt>
                <c:pt idx="4">
                  <c:v>21.49</c:v>
                </c:pt>
                <c:pt idx="5">
                  <c:v>17.65</c:v>
                </c:pt>
                <c:pt idx="6">
                  <c:v>17.65</c:v>
                </c:pt>
                <c:pt idx="7">
                  <c:v>12.45</c:v>
                </c:pt>
                <c:pt idx="8">
                  <c:v>11.77</c:v>
                </c:pt>
                <c:pt idx="9">
                  <c:v>11.18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Cumulative Share (%)</c:v>
                </c:pt>
              </c:strCache>
            </c:strRef>
          </c:tx>
          <c:spPr>
            <a:solidFill>
              <a:srgbClr val="0A1628"/>
            </a:solidFill>
            <a:ln w="31750" cap="flat">
              <a:solidFill>
                <a:srgbClr val="0A162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A1628"/>
              </a:solidFill>
              <a:ln w="9525" cap="flat">
                <a:solidFill>
                  <a:srgbClr val="0A1628"/>
                </a:solidFill>
                <a:prstDash val="solid"/>
                <a:round/>
              </a:ln>
              <a:effectLst/>
            </c:spPr>
          </c:marker>
          <c:cat>
            <c:multiLvlStrRef>
              <c:f>Sheet1!$A$2:$A$11</c:f>
              <c:multiLvlStrCache>
                <c:ptCount val="10"/>
                <c:lvl>
                  <c:pt idx="0">
                    <c:v>TE_12</c:v>
                  </c:pt>
                  <c:pt idx="1">
                    <c:v>TE_04</c:v>
                  </c:pt>
                  <c:pt idx="2">
                    <c:v>TE_07</c:v>
                  </c:pt>
                  <c:pt idx="3">
                    <c:v>DT_05</c:v>
                  </c:pt>
                  <c:pt idx="4">
                    <c:v>DT_09</c:v>
                  </c:pt>
                  <c:pt idx="5">
                    <c:v>TE_05</c:v>
                  </c:pt>
                  <c:pt idx="6">
                    <c:v>TE_08</c:v>
                  </c:pt>
                  <c:pt idx="7">
                    <c:v>DT_01</c:v>
                  </c:pt>
                  <c:pt idx="8">
                    <c:v>TE_09</c:v>
                  </c:pt>
                  <c:pt idx="9">
                    <c:v>DT_02</c:v>
                  </c:pt>
                </c:lvl>
              </c:multiLvlStrCache>
            </c:multiLvlStrRef>
          </c:cat>
          <c:val>
            <c:numRef>
              <c:f>Sheet1!$C$2:$C$11</c:f>
              <c:numCache>
                <c:formatCode>General</c:formatCode>
                <c:ptCount val="10"/>
                <c:pt idx="0">
                  <c:v>27</c:v>
                </c:pt>
                <c:pt idx="1">
                  <c:v>40</c:v>
                </c:pt>
                <c:pt idx="2">
                  <c:v>52</c:v>
                </c:pt>
                <c:pt idx="3">
                  <c:v>62</c:v>
                </c:pt>
                <c:pt idx="4">
                  <c:v>71</c:v>
                </c:pt>
                <c:pt idx="5">
                  <c:v>78</c:v>
                </c:pt>
                <c:pt idx="6">
                  <c:v>86</c:v>
                </c:pt>
                <c:pt idx="7">
                  <c:v>91</c:v>
                </c:pt>
                <c:pt idx="8">
                  <c:v>96</c:v>
                </c:pt>
                <c:pt idx="9">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8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valAx>
        <c:axId val="2094734553"/>
        <c:scaling>
          <c:orientation val="minMax"/>
          <c:max val="100"/>
        </c:scaling>
        <c:delete val="0"/>
        <c:axPos val="r"/>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 name="Shape 15"/>
        <p:cNvGrpSpPr/>
        <p:nvPr/>
      </p:nvGrpSpPr>
      <p:grpSpPr>
        <a:xfrm>
          <a:off x="0" y="0"/>
          <a:ext cx="0" cy="0"/>
          <a:chOff x="0" y="0"/>
          <a:chExt cx="0" cy="0"/>
        </a:xfrm>
      </p:grpSpPr>
      <p:sp>
        <p:nvSpPr>
          <p:cNvPr id="16" name="Google Shape;16;p1"/>
          <p:cNvSpPr/>
          <p:nvPr/>
        </p:nvSpPr>
        <p:spPr>
          <a:xfrm>
            <a:off x="6217920" y="0"/>
            <a:ext cx="2926080" cy="5143500"/>
          </a:xfrm>
          <a:prstGeom prst="rect">
            <a:avLst/>
          </a:prstGeom>
          <a:solidFill>
            <a:srgbClr val="0D6E6E"/>
          </a:solidFill>
          <a:ln cap="flat" cmpd="sng" w="12700">
            <a:solidFill>
              <a:srgbClr val="0D6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394960" y="-914400"/>
            <a:ext cx="4114800" cy="4114800"/>
          </a:xfrm>
          <a:prstGeom prst="ellipse">
            <a:avLst/>
          </a:prstGeom>
          <a:solidFill>
            <a:srgbClr val="1A9E6E">
              <a:alpha val="20000"/>
            </a:srgbClr>
          </a:solidFill>
          <a:ln cap="flat" cmpd="sng" w="12700">
            <a:solidFill>
              <a:srgbClr val="1A9E6E">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309360" y="2560320"/>
            <a:ext cx="2560320" cy="2560320"/>
          </a:xfrm>
          <a:prstGeom prst="ellipse">
            <a:avLst/>
          </a:prstGeom>
          <a:solidFill>
            <a:srgbClr val="0A1628">
              <a:alpha val="50196"/>
            </a:srgbClr>
          </a:solidFill>
          <a:ln cap="flat" cmpd="sng" w="12700">
            <a:solidFill>
              <a:srgbClr val="0A162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347472" y="731520"/>
            <a:ext cx="64008" cy="32004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530352" y="685800"/>
            <a:ext cx="5486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600"/>
              <a:buFont typeface="Trebuchet MS"/>
              <a:buNone/>
            </a:pPr>
            <a:r>
              <a:rPr b="1" i="0" lang="en-US" sz="5600" u="none" cap="none" strike="noStrike">
                <a:solidFill>
                  <a:srgbClr val="FFFFFF"/>
                </a:solidFill>
                <a:latin typeface="Trebuchet MS"/>
                <a:ea typeface="Trebuchet MS"/>
                <a:cs typeface="Trebuchet MS"/>
                <a:sym typeface="Trebuchet MS"/>
              </a:rPr>
              <a:t>PHANTOM</a:t>
            </a:r>
            <a:endParaRPr b="0" i="0" sz="5600" u="none" cap="none" strike="noStrike">
              <a:solidFill>
                <a:schemeClr val="dk1"/>
              </a:solidFill>
              <a:latin typeface="Calibri"/>
              <a:ea typeface="Calibri"/>
              <a:cs typeface="Calibri"/>
              <a:sym typeface="Calibri"/>
            </a:endParaRPr>
          </a:p>
        </p:txBody>
      </p:sp>
      <p:sp>
        <p:nvSpPr>
          <p:cNvPr id="21" name="Google Shape;21;p1"/>
          <p:cNvSpPr/>
          <p:nvPr/>
        </p:nvSpPr>
        <p:spPr>
          <a:xfrm>
            <a:off x="530352" y="1600200"/>
            <a:ext cx="5486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5600"/>
              <a:buFont typeface="Trebuchet MS"/>
              <a:buNone/>
            </a:pPr>
            <a:r>
              <a:rPr b="1" i="0" lang="en-US" sz="5600" u="none" cap="none" strike="noStrike">
                <a:solidFill>
                  <a:srgbClr val="2DD4A0"/>
                </a:solidFill>
                <a:latin typeface="Trebuchet MS"/>
                <a:ea typeface="Trebuchet MS"/>
                <a:cs typeface="Trebuchet MS"/>
                <a:sym typeface="Trebuchet MS"/>
              </a:rPr>
              <a:t>BILLIONS</a:t>
            </a:r>
            <a:endParaRPr b="0" i="0" sz="5600" u="none" cap="none" strike="noStrike">
              <a:solidFill>
                <a:schemeClr val="dk1"/>
              </a:solidFill>
              <a:latin typeface="Calibri"/>
              <a:ea typeface="Calibri"/>
              <a:cs typeface="Calibri"/>
              <a:sym typeface="Calibri"/>
            </a:endParaRPr>
          </a:p>
        </p:txBody>
      </p:sp>
      <p:sp>
        <p:nvSpPr>
          <p:cNvPr id="22" name="Google Shape;22;p1"/>
          <p:cNvSpPr/>
          <p:nvPr/>
        </p:nvSpPr>
        <p:spPr>
          <a:xfrm>
            <a:off x="530352" y="2651760"/>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E"/>
              </a:buClr>
              <a:buSzPts val="1300"/>
              <a:buFont typeface="Trebuchet MS"/>
              <a:buNone/>
            </a:pPr>
            <a:r>
              <a:rPr b="0" i="1" lang="en-US" sz="1300" u="none" cap="none" strike="noStrike">
                <a:solidFill>
                  <a:srgbClr val="C8D8EE"/>
                </a:solidFill>
                <a:latin typeface="Trebuchet MS"/>
                <a:ea typeface="Trebuchet MS"/>
                <a:cs typeface="Trebuchet MS"/>
                <a:sym typeface="Trebuchet MS"/>
              </a:rPr>
              <a:t>A forensic examination of Türkiye's invisible energy subsidies</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530352" y="309067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Trebuchet MS"/>
              <a:buNone/>
            </a:pPr>
            <a:r>
              <a:rPr b="0" i="0" lang="en-US" sz="1000" u="none" cap="none" strike="noStrike">
                <a:solidFill>
                  <a:srgbClr val="94A3B8"/>
                </a:solidFill>
                <a:latin typeface="Trebuchet MS"/>
                <a:ea typeface="Trebuchet MS"/>
                <a:cs typeface="Trebuchet MS"/>
                <a:sym typeface="Trebuchet MS"/>
              </a:rPr>
              <a:t>Fossil Fuel Support Intelligence  ·  2020 – 2023</a:t>
            </a:r>
            <a:endParaRPr b="0" i="0" sz="1000" u="none" cap="none" strike="noStrike">
              <a:solidFill>
                <a:schemeClr val="dk1"/>
              </a:solidFill>
              <a:latin typeface="Calibri"/>
              <a:ea typeface="Calibri"/>
              <a:cs typeface="Calibri"/>
              <a:sym typeface="Calibri"/>
            </a:endParaRPr>
          </a:p>
        </p:txBody>
      </p:sp>
      <p:sp>
        <p:nvSpPr>
          <p:cNvPr id="24" name="Google Shape;24;p1"/>
          <p:cNvSpPr/>
          <p:nvPr/>
        </p:nvSpPr>
        <p:spPr>
          <a:xfrm>
            <a:off x="6492240" y="411480"/>
            <a:ext cx="2377440" cy="1234440"/>
          </a:xfrm>
          <a:prstGeom prst="rect">
            <a:avLst/>
          </a:prstGeom>
          <a:solidFill>
            <a:srgbClr val="0A1628">
              <a:alpha val="45098"/>
            </a:srgbClr>
          </a:solidFill>
          <a:ln cap="flat" cmpd="sng" w="10150">
            <a:solidFill>
              <a:srgbClr val="2DD4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6492240" y="502920"/>
            <a:ext cx="237744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A0"/>
              </a:buClr>
              <a:buSzPts val="2600"/>
              <a:buFont typeface="Trebuchet MS"/>
              <a:buNone/>
            </a:pPr>
            <a:r>
              <a:rPr b="1" i="0" lang="en-US" sz="2600" u="none" cap="none" strike="noStrike">
                <a:solidFill>
                  <a:srgbClr val="2DD4A0"/>
                </a:solidFill>
                <a:latin typeface="Trebuchet MS"/>
                <a:ea typeface="Trebuchet MS"/>
                <a:cs typeface="Trebuchet MS"/>
                <a:sym typeface="Trebuchet MS"/>
              </a:rPr>
              <a:t>₺277.7B</a:t>
            </a:r>
            <a:endParaRPr b="0" i="0" sz="2600" u="none" cap="none" strike="noStrike">
              <a:solidFill>
                <a:schemeClr val="dk1"/>
              </a:solidFill>
              <a:latin typeface="Calibri"/>
              <a:ea typeface="Calibri"/>
              <a:cs typeface="Calibri"/>
              <a:sym typeface="Calibri"/>
            </a:endParaRPr>
          </a:p>
        </p:txBody>
      </p:sp>
      <p:sp>
        <p:nvSpPr>
          <p:cNvPr id="26" name="Google Shape;26;p1"/>
          <p:cNvSpPr/>
          <p:nvPr/>
        </p:nvSpPr>
        <p:spPr>
          <a:xfrm>
            <a:off x="6492240" y="1161288"/>
            <a:ext cx="237744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D8EE"/>
              </a:buClr>
              <a:buSzPts val="900"/>
              <a:buFont typeface="Trebuchet MS"/>
              <a:buNone/>
            </a:pPr>
            <a:r>
              <a:rPr b="0" i="0" lang="en-US" sz="900" u="none" cap="none" strike="noStrike">
                <a:solidFill>
                  <a:srgbClr val="C8D8EE"/>
                </a:solidFill>
                <a:latin typeface="Trebuchet MS"/>
                <a:ea typeface="Trebuchet MS"/>
                <a:cs typeface="Trebuchet MS"/>
                <a:sym typeface="Trebuchet MS"/>
              </a:rPr>
              <a:t>Total real</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EE"/>
              </a:buClr>
              <a:buSzPts val="900"/>
              <a:buFont typeface="Trebuchet MS"/>
              <a:buNone/>
            </a:pPr>
            <a:r>
              <a:rPr b="0" i="0" lang="en-US" sz="900" u="none" cap="none" strike="noStrike">
                <a:solidFill>
                  <a:srgbClr val="C8D8EE"/>
                </a:solidFill>
                <a:latin typeface="Trebuchet MS"/>
                <a:ea typeface="Trebuchet MS"/>
                <a:cs typeface="Trebuchet MS"/>
                <a:sym typeface="Trebuchet MS"/>
              </a:rPr>
              <a:t>support value</a:t>
            </a:r>
            <a:endParaRPr b="0" i="0" sz="900" u="none" cap="none" strike="noStrike">
              <a:solidFill>
                <a:schemeClr val="dk1"/>
              </a:solidFill>
              <a:latin typeface="Calibri"/>
              <a:ea typeface="Calibri"/>
              <a:cs typeface="Calibri"/>
              <a:sym typeface="Calibri"/>
            </a:endParaRPr>
          </a:p>
        </p:txBody>
      </p:sp>
      <p:sp>
        <p:nvSpPr>
          <p:cNvPr id="27" name="Google Shape;27;p1"/>
          <p:cNvSpPr/>
          <p:nvPr/>
        </p:nvSpPr>
        <p:spPr>
          <a:xfrm>
            <a:off x="6492240" y="1874520"/>
            <a:ext cx="2377440" cy="1234440"/>
          </a:xfrm>
          <a:prstGeom prst="rect">
            <a:avLst/>
          </a:prstGeom>
          <a:solidFill>
            <a:srgbClr val="0A1628">
              <a:alpha val="45098"/>
            </a:srgbClr>
          </a:solidFill>
          <a:ln cap="flat" cmpd="sng" w="10150">
            <a:solidFill>
              <a:srgbClr val="2DD4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6492240" y="1965960"/>
            <a:ext cx="237744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A0"/>
              </a:buClr>
              <a:buSzPts val="2600"/>
              <a:buFont typeface="Trebuchet MS"/>
              <a:buNone/>
            </a:pPr>
            <a:r>
              <a:rPr b="1" i="0" lang="en-US" sz="2600" u="none" cap="none" strike="noStrike">
                <a:solidFill>
                  <a:srgbClr val="2DD4A0"/>
                </a:solidFill>
                <a:latin typeface="Trebuchet MS"/>
                <a:ea typeface="Trebuchet MS"/>
                <a:cs typeface="Trebuchet MS"/>
                <a:sym typeface="Trebuchet MS"/>
              </a:rPr>
              <a:t>−43%</a:t>
            </a:r>
            <a:endParaRPr b="0" i="0" sz="2600" u="none" cap="none" strike="noStrike">
              <a:solidFill>
                <a:schemeClr val="dk1"/>
              </a:solidFill>
              <a:latin typeface="Calibri"/>
              <a:ea typeface="Calibri"/>
              <a:cs typeface="Calibri"/>
              <a:sym typeface="Calibri"/>
            </a:endParaRPr>
          </a:p>
        </p:txBody>
      </p:sp>
      <p:sp>
        <p:nvSpPr>
          <p:cNvPr id="29" name="Google Shape;29;p1"/>
          <p:cNvSpPr/>
          <p:nvPr/>
        </p:nvSpPr>
        <p:spPr>
          <a:xfrm>
            <a:off x="6492240" y="2624328"/>
            <a:ext cx="237744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D8EE"/>
              </a:buClr>
              <a:buSzPts val="900"/>
              <a:buFont typeface="Trebuchet MS"/>
              <a:buNone/>
            </a:pPr>
            <a:r>
              <a:rPr b="0" i="0" lang="en-US" sz="900" u="none" cap="none" strike="noStrike">
                <a:solidFill>
                  <a:srgbClr val="C8D8EE"/>
                </a:solidFill>
                <a:latin typeface="Trebuchet MS"/>
                <a:ea typeface="Trebuchet MS"/>
                <a:cs typeface="Trebuchet MS"/>
                <a:sym typeface="Trebuchet MS"/>
              </a:rPr>
              <a:t>Real value</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EE"/>
              </a:buClr>
              <a:buSzPts val="900"/>
              <a:buFont typeface="Trebuchet MS"/>
              <a:buNone/>
            </a:pPr>
            <a:r>
              <a:rPr b="0" i="0" lang="en-US" sz="900" u="none" cap="none" strike="noStrike">
                <a:solidFill>
                  <a:srgbClr val="C8D8EE"/>
                </a:solidFill>
                <a:latin typeface="Trebuchet MS"/>
                <a:ea typeface="Trebuchet MS"/>
                <a:cs typeface="Trebuchet MS"/>
                <a:sym typeface="Trebuchet MS"/>
              </a:rPr>
              <a:t>decline 2020→23</a:t>
            </a:r>
            <a:endParaRPr b="0" i="0" sz="900" u="none" cap="none" strike="noStrike">
              <a:solidFill>
                <a:schemeClr val="dk1"/>
              </a:solidFill>
              <a:latin typeface="Calibri"/>
              <a:ea typeface="Calibri"/>
              <a:cs typeface="Calibri"/>
              <a:sym typeface="Calibri"/>
            </a:endParaRPr>
          </a:p>
        </p:txBody>
      </p:sp>
      <p:sp>
        <p:nvSpPr>
          <p:cNvPr id="30" name="Google Shape;30;p1"/>
          <p:cNvSpPr/>
          <p:nvPr/>
        </p:nvSpPr>
        <p:spPr>
          <a:xfrm>
            <a:off x="6492240" y="3337560"/>
            <a:ext cx="2377440" cy="1234440"/>
          </a:xfrm>
          <a:prstGeom prst="rect">
            <a:avLst/>
          </a:prstGeom>
          <a:solidFill>
            <a:srgbClr val="0A1628">
              <a:alpha val="45098"/>
            </a:srgbClr>
          </a:solidFill>
          <a:ln cap="flat" cmpd="sng" w="10150">
            <a:solidFill>
              <a:srgbClr val="2DD4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6492240" y="3429000"/>
            <a:ext cx="237744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A0"/>
              </a:buClr>
              <a:buSzPts val="2600"/>
              <a:buFont typeface="Trebuchet MS"/>
              <a:buNone/>
            </a:pPr>
            <a:r>
              <a:rPr b="1" i="0" lang="en-US" sz="2600" u="none" cap="none" strike="noStrike">
                <a:solidFill>
                  <a:srgbClr val="2DD4A0"/>
                </a:solidFill>
                <a:latin typeface="Trebuchet MS"/>
                <a:ea typeface="Trebuchet MS"/>
                <a:cs typeface="Trebuchet MS"/>
                <a:sym typeface="Trebuchet MS"/>
              </a:rPr>
              <a:t>26</a:t>
            </a:r>
            <a:endParaRPr b="0" i="0" sz="2600" u="none" cap="none" strike="noStrike">
              <a:solidFill>
                <a:schemeClr val="dk1"/>
              </a:solidFill>
              <a:latin typeface="Calibri"/>
              <a:ea typeface="Calibri"/>
              <a:cs typeface="Calibri"/>
              <a:sym typeface="Calibri"/>
            </a:endParaRPr>
          </a:p>
        </p:txBody>
      </p:sp>
      <p:sp>
        <p:nvSpPr>
          <p:cNvPr id="32" name="Google Shape;32;p1"/>
          <p:cNvSpPr/>
          <p:nvPr/>
        </p:nvSpPr>
        <p:spPr>
          <a:xfrm>
            <a:off x="6492240" y="4087368"/>
            <a:ext cx="237744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D8EE"/>
              </a:buClr>
              <a:buSzPts val="900"/>
              <a:buFont typeface="Trebuchet MS"/>
              <a:buNone/>
            </a:pPr>
            <a:r>
              <a:rPr b="0" i="0" lang="en-US" sz="900" u="none" cap="none" strike="noStrike">
                <a:solidFill>
                  <a:srgbClr val="C8D8EE"/>
                </a:solidFill>
                <a:latin typeface="Trebuchet MS"/>
                <a:ea typeface="Trebuchet MS"/>
                <a:cs typeface="Trebuchet MS"/>
                <a:sym typeface="Trebuchet MS"/>
              </a:rPr>
              <a:t>Subsidy</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EE"/>
              </a:buClr>
              <a:buSzPts val="900"/>
              <a:buFont typeface="Trebuchet MS"/>
              <a:buNone/>
            </a:pPr>
            <a:r>
              <a:rPr b="0" i="0" lang="en-US" sz="900" u="none" cap="none" strike="noStrike">
                <a:solidFill>
                  <a:srgbClr val="C8D8EE"/>
                </a:solidFill>
                <a:latin typeface="Trebuchet MS"/>
                <a:ea typeface="Trebuchet MS"/>
                <a:cs typeface="Trebuchet MS"/>
                <a:sym typeface="Trebuchet MS"/>
              </a:rPr>
              <a:t>programmes</a:t>
            </a:r>
            <a:endParaRPr b="0" i="0" sz="900" u="none" cap="none" strike="noStrike">
              <a:solidFill>
                <a:schemeClr val="dk1"/>
              </a:solidFill>
              <a:latin typeface="Calibri"/>
              <a:ea typeface="Calibri"/>
              <a:cs typeface="Calibri"/>
              <a:sym typeface="Calibri"/>
            </a:endParaRPr>
          </a:p>
        </p:txBody>
      </p:sp>
      <p:sp>
        <p:nvSpPr>
          <p:cNvPr id="33" name="Google Shape;33;p1"/>
          <p:cNvSpPr/>
          <p:nvPr/>
        </p:nvSpPr>
        <p:spPr>
          <a:xfrm>
            <a:off x="530352" y="4617720"/>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Trebuchet MS"/>
              <a:buNone/>
            </a:pPr>
            <a:r>
              <a:rPr b="0" i="0" lang="en-US" sz="900" u="none" cap="none" strike="noStrike">
                <a:solidFill>
                  <a:srgbClr val="64748B"/>
                </a:solidFill>
                <a:latin typeface="Trebuchet MS"/>
                <a:ea typeface="Trebuchet MS"/>
                <a:cs typeface="Trebuchet MS"/>
                <a:sym typeface="Trebuchet MS"/>
              </a:rPr>
              <a:t>Prepared by  Bolanle Ayodeji Ibimoroti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38" name="Shape 38"/>
        <p:cNvGrpSpPr/>
        <p:nvPr/>
      </p:nvGrpSpPr>
      <p:grpSpPr>
        <a:xfrm>
          <a:off x="0" y="0"/>
          <a:ext cx="0" cy="0"/>
          <a:chOff x="0" y="0"/>
          <a:chExt cx="0" cy="0"/>
        </a:xfrm>
      </p:grpSpPr>
      <p:sp>
        <p:nvSpPr>
          <p:cNvPr id="39" name="Google Shape;39;p2"/>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CONTEXT</a:t>
            </a:r>
            <a:endParaRPr b="0" i="0" sz="750" u="none" cap="none" strike="noStrike">
              <a:solidFill>
                <a:schemeClr val="dk1"/>
              </a:solidFill>
              <a:latin typeface="Calibri"/>
              <a:ea typeface="Calibri"/>
              <a:cs typeface="Calibri"/>
              <a:sym typeface="Calibri"/>
            </a:endParaRPr>
          </a:p>
        </p:txBody>
      </p:sp>
      <p:sp>
        <p:nvSpPr>
          <p:cNvPr id="43" name="Google Shape;43;p2"/>
          <p:cNvSpPr/>
          <p:nvPr/>
        </p:nvSpPr>
        <p:spPr>
          <a:xfrm>
            <a:off x="292608" y="109728"/>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2100"/>
              <a:buFont typeface="Trebuchet MS"/>
              <a:buNone/>
            </a:pPr>
            <a:r>
              <a:rPr b="1" i="0" lang="en-US" sz="2100" u="none" cap="none" strike="noStrike">
                <a:solidFill>
                  <a:srgbClr val="0A1628"/>
                </a:solidFill>
                <a:latin typeface="Trebuchet MS"/>
                <a:ea typeface="Trebuchet MS"/>
                <a:cs typeface="Trebuchet MS"/>
                <a:sym typeface="Trebuchet MS"/>
              </a:rPr>
              <a:t>THE BACKDROP</a:t>
            </a:r>
            <a:endParaRPr b="0" i="0" sz="2100" u="none" cap="none" strike="noStrike">
              <a:solidFill>
                <a:schemeClr val="dk1"/>
              </a:solidFill>
              <a:latin typeface="Calibri"/>
              <a:ea typeface="Calibri"/>
              <a:cs typeface="Calibri"/>
              <a:sym typeface="Calibri"/>
            </a:endParaRPr>
          </a:p>
        </p:txBody>
      </p:sp>
      <p:sp>
        <p:nvSpPr>
          <p:cNvPr id="44" name="Google Shape;44;p2"/>
          <p:cNvSpPr/>
          <p:nvPr/>
        </p:nvSpPr>
        <p:spPr>
          <a:xfrm>
            <a:off x="292608" y="512064"/>
            <a:ext cx="8229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Trebuchet MS"/>
              <a:buNone/>
            </a:pPr>
            <a:r>
              <a:rPr b="0" i="1" lang="en-US" sz="1250" u="none" cap="none" strike="noStrike">
                <a:solidFill>
                  <a:srgbClr val="1E293B"/>
                </a:solidFill>
                <a:latin typeface="Trebuchet MS"/>
                <a:ea typeface="Trebuchet MS"/>
                <a:cs typeface="Trebuchet MS"/>
                <a:sym typeface="Trebuchet MS"/>
              </a:rPr>
              <a:t>A nation caught between global energy chaos and a collapsing currency</a:t>
            </a:r>
            <a:endParaRPr b="0" i="0" sz="1250" u="none" cap="none" strike="noStrike">
              <a:solidFill>
                <a:schemeClr val="dk1"/>
              </a:solidFill>
              <a:latin typeface="Calibri"/>
              <a:ea typeface="Calibri"/>
              <a:cs typeface="Calibri"/>
              <a:sym typeface="Calibri"/>
            </a:endParaRPr>
          </a:p>
        </p:txBody>
      </p:sp>
      <p:sp>
        <p:nvSpPr>
          <p:cNvPr id="45" name="Google Shape;45;p2"/>
          <p:cNvSpPr/>
          <p:nvPr/>
        </p:nvSpPr>
        <p:spPr>
          <a:xfrm>
            <a:off x="292608" y="1005840"/>
            <a:ext cx="2743200" cy="214884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292608" y="1005840"/>
            <a:ext cx="27432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29768" y="1078992"/>
            <a:ext cx="24688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2800"/>
              <a:buFont typeface="Trebuchet MS"/>
              <a:buNone/>
            </a:pPr>
            <a:r>
              <a:rPr b="1" i="0" lang="en-US" sz="2800" u="none" cap="none" strike="noStrike">
                <a:solidFill>
                  <a:srgbClr val="1A9E6E"/>
                </a:solidFill>
                <a:latin typeface="Trebuchet MS"/>
                <a:ea typeface="Trebuchet MS"/>
                <a:cs typeface="Trebuchet MS"/>
                <a:sym typeface="Trebuchet MS"/>
              </a:rPr>
              <a:t>70%</a:t>
            </a:r>
            <a:endParaRPr b="0" i="0" sz="2800" u="none" cap="none" strike="noStrike">
              <a:solidFill>
                <a:schemeClr val="dk1"/>
              </a:solidFill>
              <a:latin typeface="Calibri"/>
              <a:ea typeface="Calibri"/>
              <a:cs typeface="Calibri"/>
              <a:sym typeface="Calibri"/>
            </a:endParaRPr>
          </a:p>
        </p:txBody>
      </p:sp>
      <p:sp>
        <p:nvSpPr>
          <p:cNvPr id="48" name="Google Shape;48;p2"/>
          <p:cNvSpPr/>
          <p:nvPr/>
        </p:nvSpPr>
        <p:spPr>
          <a:xfrm>
            <a:off x="429768" y="1737360"/>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750"/>
              <a:buFont typeface="Trebuchet MS"/>
              <a:buNone/>
            </a:pPr>
            <a:r>
              <a:rPr b="1" i="0" lang="en-US" sz="750" u="none" cap="none" strike="noStrike">
                <a:solidFill>
                  <a:srgbClr val="1A9E6E"/>
                </a:solidFill>
                <a:latin typeface="Trebuchet MS"/>
                <a:ea typeface="Trebuchet MS"/>
                <a:cs typeface="Trebuchet MS"/>
                <a:sym typeface="Trebuchet MS"/>
              </a:rPr>
              <a:t>ENERGY IMPORTED</a:t>
            </a:r>
            <a:endParaRPr b="0" i="0" sz="750" u="none" cap="none" strike="noStrike">
              <a:solidFill>
                <a:schemeClr val="dk1"/>
              </a:solidFill>
              <a:latin typeface="Calibri"/>
              <a:ea typeface="Calibri"/>
              <a:cs typeface="Calibri"/>
              <a:sym typeface="Calibri"/>
            </a:endParaRPr>
          </a:p>
        </p:txBody>
      </p:sp>
      <p:sp>
        <p:nvSpPr>
          <p:cNvPr id="49" name="Google Shape;49;p2"/>
          <p:cNvSpPr/>
          <p:nvPr/>
        </p:nvSpPr>
        <p:spPr>
          <a:xfrm>
            <a:off x="429768" y="1965960"/>
            <a:ext cx="246888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Türkiye buys most of its energy on global markets. Every price surge abroad arrives instantly at home — there is no domestic buffer.</a:t>
            </a:r>
            <a:endParaRPr b="0" i="0" sz="950" u="none" cap="none" strike="noStrike">
              <a:solidFill>
                <a:schemeClr val="dk1"/>
              </a:solidFill>
              <a:latin typeface="Calibri"/>
              <a:ea typeface="Calibri"/>
              <a:cs typeface="Calibri"/>
              <a:sym typeface="Calibri"/>
            </a:endParaRPr>
          </a:p>
        </p:txBody>
      </p:sp>
      <p:sp>
        <p:nvSpPr>
          <p:cNvPr id="50" name="Google Shape;50;p2"/>
          <p:cNvSpPr/>
          <p:nvPr/>
        </p:nvSpPr>
        <p:spPr>
          <a:xfrm>
            <a:off x="3191256" y="1005840"/>
            <a:ext cx="2743200" cy="214884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3191256" y="1005840"/>
            <a:ext cx="2743200" cy="50292"/>
          </a:xfrm>
          <a:prstGeom prst="rect">
            <a:avLst/>
          </a:prstGeom>
          <a:solidFill>
            <a:srgbClr val="0D6E6E"/>
          </a:solidFill>
          <a:ln cap="flat" cmpd="sng" w="12700">
            <a:solidFill>
              <a:srgbClr val="0D6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3328416" y="1078992"/>
            <a:ext cx="24688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6E6E"/>
              </a:buClr>
              <a:buSzPts val="2800"/>
              <a:buFont typeface="Trebuchet MS"/>
              <a:buNone/>
            </a:pPr>
            <a:r>
              <a:rPr b="1" i="0" lang="en-US" sz="2800" u="none" cap="none" strike="noStrike">
                <a:solidFill>
                  <a:srgbClr val="0D6E6E"/>
                </a:solidFill>
                <a:latin typeface="Trebuchet MS"/>
                <a:ea typeface="Trebuchet MS"/>
                <a:cs typeface="Trebuchet MS"/>
                <a:sym typeface="Trebuchet MS"/>
              </a:rPr>
              <a:t>72%+</a:t>
            </a:r>
            <a:endParaRPr b="0" i="0" sz="2800" u="none" cap="none" strike="noStrike">
              <a:solidFill>
                <a:schemeClr val="dk1"/>
              </a:solidFill>
              <a:latin typeface="Calibri"/>
              <a:ea typeface="Calibri"/>
              <a:cs typeface="Calibri"/>
              <a:sym typeface="Calibri"/>
            </a:endParaRPr>
          </a:p>
        </p:txBody>
      </p:sp>
      <p:sp>
        <p:nvSpPr>
          <p:cNvPr id="53" name="Google Shape;53;p2"/>
          <p:cNvSpPr/>
          <p:nvPr/>
        </p:nvSpPr>
        <p:spPr>
          <a:xfrm>
            <a:off x="3328416" y="1737360"/>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6E6E"/>
              </a:buClr>
              <a:buSzPts val="750"/>
              <a:buFont typeface="Trebuchet MS"/>
              <a:buNone/>
            </a:pPr>
            <a:r>
              <a:rPr b="1" i="0" lang="en-US" sz="750" u="none" cap="none" strike="noStrike">
                <a:solidFill>
                  <a:srgbClr val="0D6E6E"/>
                </a:solidFill>
                <a:latin typeface="Trebuchet MS"/>
                <a:ea typeface="Trebuchet MS"/>
                <a:cs typeface="Trebuchet MS"/>
                <a:sym typeface="Trebuchet MS"/>
              </a:rPr>
              <a:t>INFLATION IN 2022</a:t>
            </a:r>
            <a:endParaRPr b="0" i="0" sz="750" u="none" cap="none" strike="noStrike">
              <a:solidFill>
                <a:schemeClr val="dk1"/>
              </a:solidFill>
              <a:latin typeface="Calibri"/>
              <a:ea typeface="Calibri"/>
              <a:cs typeface="Calibri"/>
              <a:sym typeface="Calibri"/>
            </a:endParaRPr>
          </a:p>
        </p:txBody>
      </p:sp>
      <p:sp>
        <p:nvSpPr>
          <p:cNvPr id="54" name="Google Shape;54;p2"/>
          <p:cNvSpPr/>
          <p:nvPr/>
        </p:nvSpPr>
        <p:spPr>
          <a:xfrm>
            <a:off x="3328416" y="1965960"/>
            <a:ext cx="246888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The Turkish Lira entered freefall. Nominal budget figures became a hall of mirrors — bigger numbers that bought progressively less.</a:t>
            </a:r>
            <a:endParaRPr b="0" i="0" sz="950" u="none" cap="none" strike="noStrike">
              <a:solidFill>
                <a:schemeClr val="dk1"/>
              </a:solidFill>
              <a:latin typeface="Calibri"/>
              <a:ea typeface="Calibri"/>
              <a:cs typeface="Calibri"/>
              <a:sym typeface="Calibri"/>
            </a:endParaRPr>
          </a:p>
        </p:txBody>
      </p:sp>
      <p:sp>
        <p:nvSpPr>
          <p:cNvPr id="55" name="Google Shape;55;p2"/>
          <p:cNvSpPr/>
          <p:nvPr/>
        </p:nvSpPr>
        <p:spPr>
          <a:xfrm>
            <a:off x="6089904" y="1005840"/>
            <a:ext cx="2743200" cy="214884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089904" y="1005840"/>
            <a:ext cx="2743200" cy="50292"/>
          </a:xfrm>
          <a:prstGeom prst="rect">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6227064" y="1078992"/>
            <a:ext cx="24688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2800"/>
              <a:buFont typeface="Trebuchet MS"/>
              <a:buNone/>
            </a:pPr>
            <a:r>
              <a:rPr b="1" i="0" lang="en-US" sz="2800" u="none" cap="none" strike="noStrike">
                <a:solidFill>
                  <a:srgbClr val="0A1628"/>
                </a:solidFill>
                <a:latin typeface="Trebuchet MS"/>
                <a:ea typeface="Trebuchet MS"/>
                <a:cs typeface="Trebuchet MS"/>
                <a:sym typeface="Trebuchet MS"/>
              </a:rPr>
              <a:t>SHIELD</a:t>
            </a:r>
            <a:endParaRPr b="0" i="0" sz="2800" u="none" cap="none" strike="noStrike">
              <a:solidFill>
                <a:schemeClr val="dk1"/>
              </a:solidFill>
              <a:latin typeface="Calibri"/>
              <a:ea typeface="Calibri"/>
              <a:cs typeface="Calibri"/>
              <a:sym typeface="Calibri"/>
            </a:endParaRPr>
          </a:p>
        </p:txBody>
      </p:sp>
      <p:sp>
        <p:nvSpPr>
          <p:cNvPr id="58" name="Google Shape;58;p2"/>
          <p:cNvSpPr/>
          <p:nvPr/>
        </p:nvSpPr>
        <p:spPr>
          <a:xfrm>
            <a:off x="6227064" y="1737360"/>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750"/>
              <a:buFont typeface="Trebuchet MS"/>
              <a:buNone/>
            </a:pPr>
            <a:r>
              <a:rPr b="1" i="0" lang="en-US" sz="750" u="none" cap="none" strike="noStrike">
                <a:solidFill>
                  <a:srgbClr val="0A1628"/>
                </a:solidFill>
                <a:latin typeface="Trebuchet MS"/>
                <a:ea typeface="Trebuchet MS"/>
                <a:cs typeface="Trebuchet MS"/>
                <a:sym typeface="Trebuchet MS"/>
              </a:rPr>
              <a:t>NOT A SUBSIDY MACHINE</a:t>
            </a:r>
            <a:endParaRPr b="0" i="0" sz="750" u="none" cap="none" strike="noStrike">
              <a:solidFill>
                <a:schemeClr val="dk1"/>
              </a:solidFill>
              <a:latin typeface="Calibri"/>
              <a:ea typeface="Calibri"/>
              <a:cs typeface="Calibri"/>
              <a:sym typeface="Calibri"/>
            </a:endParaRPr>
          </a:p>
        </p:txBody>
      </p:sp>
      <p:sp>
        <p:nvSpPr>
          <p:cNvPr id="59" name="Google Shape;59;p2"/>
          <p:cNvSpPr/>
          <p:nvPr/>
        </p:nvSpPr>
        <p:spPr>
          <a:xfrm>
            <a:off x="6227064" y="1965960"/>
            <a:ext cx="246888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Unlike oil-producing states, Türkiye does not fund extraction. It absorbs import price shocks on behalf of its citizens and industries.</a:t>
            </a:r>
            <a:endParaRPr b="0" i="0" sz="950" u="none" cap="none" strike="noStrike">
              <a:solidFill>
                <a:schemeClr val="dk1"/>
              </a:solidFill>
              <a:latin typeface="Calibri"/>
              <a:ea typeface="Calibri"/>
              <a:cs typeface="Calibri"/>
              <a:sym typeface="Calibri"/>
            </a:endParaRPr>
          </a:p>
        </p:txBody>
      </p:sp>
      <p:sp>
        <p:nvSpPr>
          <p:cNvPr id="60" name="Google Shape;60;p2"/>
          <p:cNvSpPr/>
          <p:nvPr/>
        </p:nvSpPr>
        <p:spPr>
          <a:xfrm>
            <a:off x="292608" y="3310128"/>
            <a:ext cx="8503920" cy="1600200"/>
          </a:xfrm>
          <a:prstGeom prst="rect">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292608" y="3310128"/>
            <a:ext cx="64008" cy="16002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02920" y="3383280"/>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FOUR TURBULENT YEARS</a:t>
            </a:r>
            <a:endParaRPr b="0" i="0" sz="800" u="none" cap="none" strike="noStrike">
              <a:solidFill>
                <a:schemeClr val="dk1"/>
              </a:solidFill>
              <a:latin typeface="Calibri"/>
              <a:ea typeface="Calibri"/>
              <a:cs typeface="Calibri"/>
              <a:sym typeface="Calibri"/>
            </a:endParaRPr>
          </a:p>
        </p:txBody>
      </p:sp>
      <p:sp>
        <p:nvSpPr>
          <p:cNvPr id="63" name="Google Shape;63;p2"/>
          <p:cNvSpPr/>
          <p:nvPr/>
        </p:nvSpPr>
        <p:spPr>
          <a:xfrm>
            <a:off x="502920" y="3639312"/>
            <a:ext cx="8229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7F2"/>
              </a:buClr>
              <a:buSzPts val="1000"/>
              <a:buFont typeface="Trebuchet MS"/>
              <a:buNone/>
            </a:pPr>
            <a:r>
              <a:rPr b="0" i="0" lang="en-US" sz="1000" u="none" cap="none" strike="noStrike">
                <a:solidFill>
                  <a:srgbClr val="E8F7F2"/>
                </a:solidFill>
                <a:latin typeface="Trebuchet MS"/>
                <a:ea typeface="Trebuchet MS"/>
                <a:cs typeface="Trebuchet MS"/>
                <a:sym typeface="Trebuchet MS"/>
              </a:rPr>
              <a:t>2020 brought a global pandemic that collapsed energy demand. 2021 saw the Lira lose half its value. 2022 delivered the Ukraine war and European gas prices at historic highs. 2023 brought elections and the pressure to keep household bills low at any cost. This report traces every lira spent across all four years — and strips away the inflation mirage to reveal what was actually delivered.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68" name="Shape 68"/>
        <p:cNvGrpSpPr/>
        <p:nvPr/>
      </p:nvGrpSpPr>
      <p:grpSpPr>
        <a:xfrm>
          <a:off x="0" y="0"/>
          <a:ext cx="0" cy="0"/>
          <a:chOff x="0" y="0"/>
          <a:chExt cx="0" cy="0"/>
        </a:xfrm>
      </p:grpSpPr>
      <p:sp>
        <p:nvSpPr>
          <p:cNvPr id="69" name="Google Shape;69;p3"/>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METHODOLOGY</a:t>
            </a:r>
            <a:endParaRPr b="0" i="0" sz="750" u="none" cap="none" strike="noStrike">
              <a:solidFill>
                <a:schemeClr val="dk1"/>
              </a:solidFill>
              <a:latin typeface="Calibri"/>
              <a:ea typeface="Calibri"/>
              <a:cs typeface="Calibri"/>
              <a:sym typeface="Calibri"/>
            </a:endParaRPr>
          </a:p>
        </p:txBody>
      </p:sp>
      <p:sp>
        <p:nvSpPr>
          <p:cNvPr id="73" name="Google Shape;73;p3"/>
          <p:cNvSpPr/>
          <p:nvPr/>
        </p:nvSpPr>
        <p:spPr>
          <a:xfrm>
            <a:off x="292608" y="109728"/>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2100"/>
              <a:buFont typeface="Trebuchet MS"/>
              <a:buNone/>
            </a:pPr>
            <a:r>
              <a:rPr b="1" i="0" lang="en-US" sz="2100" u="none" cap="none" strike="noStrike">
                <a:solidFill>
                  <a:srgbClr val="0A1628"/>
                </a:solidFill>
                <a:latin typeface="Trebuchet MS"/>
                <a:ea typeface="Trebuchet MS"/>
                <a:cs typeface="Trebuchet MS"/>
                <a:sym typeface="Trebuchet MS"/>
              </a:rPr>
              <a:t>HOW WE SEE CLEARLY</a:t>
            </a:r>
            <a:endParaRPr b="0" i="0" sz="2100" u="none" cap="none" strike="noStrike">
              <a:solidFill>
                <a:schemeClr val="dk1"/>
              </a:solidFill>
              <a:latin typeface="Calibri"/>
              <a:ea typeface="Calibri"/>
              <a:cs typeface="Calibri"/>
              <a:sym typeface="Calibri"/>
            </a:endParaRPr>
          </a:p>
        </p:txBody>
      </p:sp>
      <p:sp>
        <p:nvSpPr>
          <p:cNvPr id="74" name="Google Shape;74;p3"/>
          <p:cNvSpPr/>
          <p:nvPr/>
        </p:nvSpPr>
        <p:spPr>
          <a:xfrm>
            <a:off x="292608" y="512064"/>
            <a:ext cx="8229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Trebuchet MS"/>
              <a:buNone/>
            </a:pPr>
            <a:r>
              <a:rPr b="0" i="1" lang="en-US" sz="1200" u="none" cap="none" strike="noStrike">
                <a:solidFill>
                  <a:srgbClr val="1E293B"/>
                </a:solidFill>
                <a:latin typeface="Trebuchet MS"/>
                <a:ea typeface="Trebuchet MS"/>
                <a:cs typeface="Trebuchet MS"/>
                <a:sym typeface="Trebuchet MS"/>
              </a:rPr>
              <a:t>Two analytical traps stood between raw data and the truth — we dismantled both</a:t>
            </a:r>
            <a:endParaRPr b="0" i="0" sz="1200" u="none" cap="none" strike="noStrike">
              <a:solidFill>
                <a:schemeClr val="dk1"/>
              </a:solidFill>
              <a:latin typeface="Calibri"/>
              <a:ea typeface="Calibri"/>
              <a:cs typeface="Calibri"/>
              <a:sym typeface="Calibri"/>
            </a:endParaRPr>
          </a:p>
        </p:txBody>
      </p:sp>
      <p:sp>
        <p:nvSpPr>
          <p:cNvPr id="75" name="Google Shape;75;p3"/>
          <p:cNvSpPr/>
          <p:nvPr/>
        </p:nvSpPr>
        <p:spPr>
          <a:xfrm>
            <a:off x="292608" y="1005840"/>
            <a:ext cx="2743200" cy="283464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292608" y="1005840"/>
            <a:ext cx="27432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420624" y="1078992"/>
            <a:ext cx="347472" cy="347472"/>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420624" y="107899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01</a:t>
            </a:r>
            <a:endParaRPr b="0" i="0" sz="1100" u="none" cap="none" strike="noStrike">
              <a:solidFill>
                <a:schemeClr val="dk1"/>
              </a:solidFill>
              <a:latin typeface="Calibri"/>
              <a:ea typeface="Calibri"/>
              <a:cs typeface="Calibri"/>
              <a:sym typeface="Calibri"/>
            </a:endParaRPr>
          </a:p>
        </p:txBody>
      </p:sp>
      <p:sp>
        <p:nvSpPr>
          <p:cNvPr id="79" name="Google Shape;79;p3"/>
          <p:cNvSpPr/>
          <p:nvPr/>
        </p:nvSpPr>
        <p:spPr>
          <a:xfrm>
            <a:off x="859536" y="1115568"/>
            <a:ext cx="2057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900"/>
              <a:buFont typeface="Trebuchet MS"/>
              <a:buNone/>
            </a:pPr>
            <a:r>
              <a:rPr b="1" i="0" lang="en-US" sz="900" u="none" cap="none" strike="noStrike">
                <a:solidFill>
                  <a:srgbClr val="1A9E6E"/>
                </a:solidFill>
                <a:latin typeface="Trebuchet MS"/>
                <a:ea typeface="Trebuchet MS"/>
                <a:cs typeface="Trebuchet MS"/>
                <a:sym typeface="Trebuchet MS"/>
              </a:rPr>
              <a:t>THE AGGREGATION TRAP</a:t>
            </a:r>
            <a:endParaRPr b="0" i="0" sz="900" u="none" cap="none" strike="noStrike">
              <a:solidFill>
                <a:schemeClr val="dk1"/>
              </a:solidFill>
              <a:latin typeface="Calibri"/>
              <a:ea typeface="Calibri"/>
              <a:cs typeface="Calibri"/>
              <a:sym typeface="Calibri"/>
            </a:endParaRPr>
          </a:p>
        </p:txBody>
      </p:sp>
      <p:sp>
        <p:nvSpPr>
          <p:cNvPr id="80" name="Google Shape;80;p3"/>
          <p:cNvSpPr/>
          <p:nvPr/>
        </p:nvSpPr>
        <p:spPr>
          <a:xfrm>
            <a:off x="429768" y="1508760"/>
            <a:ext cx="2514600" cy="2240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The original 224-row dataset contained records that appeared to be exact copies. A surface-level review would have deleted 120 of them — silently erasing nearly half the government's actual expenditure.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On closer inspection, these were legitimate sub-records for the same instrument in the same year. Summing them correctly produced 104 clean, verified rows.</a:t>
            </a:r>
            <a:endParaRPr b="0" i="0" sz="950" u="none" cap="none" strike="noStrike">
              <a:solidFill>
                <a:schemeClr val="dk1"/>
              </a:solidFill>
              <a:latin typeface="Calibri"/>
              <a:ea typeface="Calibri"/>
              <a:cs typeface="Calibri"/>
              <a:sym typeface="Calibri"/>
            </a:endParaRPr>
          </a:p>
        </p:txBody>
      </p:sp>
      <p:sp>
        <p:nvSpPr>
          <p:cNvPr id="81" name="Google Shape;81;p3"/>
          <p:cNvSpPr/>
          <p:nvPr/>
        </p:nvSpPr>
        <p:spPr>
          <a:xfrm>
            <a:off x="3191256" y="1005840"/>
            <a:ext cx="2743200" cy="283464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3191256" y="1005840"/>
            <a:ext cx="2743200" cy="50292"/>
          </a:xfrm>
          <a:prstGeom prst="rect">
            <a:avLst/>
          </a:prstGeom>
          <a:solidFill>
            <a:srgbClr val="0D6E6E"/>
          </a:solidFill>
          <a:ln cap="flat" cmpd="sng" w="12700">
            <a:solidFill>
              <a:srgbClr val="0D6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3319272" y="1078992"/>
            <a:ext cx="347472" cy="347472"/>
          </a:xfrm>
          <a:prstGeom prst="ellipse">
            <a:avLst/>
          </a:prstGeom>
          <a:solidFill>
            <a:srgbClr val="0D6E6E"/>
          </a:solidFill>
          <a:ln cap="flat" cmpd="sng" w="12700">
            <a:solidFill>
              <a:srgbClr val="0D6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3319272" y="107899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02</a:t>
            </a:r>
            <a:endParaRPr b="0" i="0" sz="1100" u="none" cap="none" strike="noStrike">
              <a:solidFill>
                <a:schemeClr val="dk1"/>
              </a:solidFill>
              <a:latin typeface="Calibri"/>
              <a:ea typeface="Calibri"/>
              <a:cs typeface="Calibri"/>
              <a:sym typeface="Calibri"/>
            </a:endParaRPr>
          </a:p>
        </p:txBody>
      </p:sp>
      <p:sp>
        <p:nvSpPr>
          <p:cNvPr id="85" name="Google Shape;85;p3"/>
          <p:cNvSpPr/>
          <p:nvPr/>
        </p:nvSpPr>
        <p:spPr>
          <a:xfrm>
            <a:off x="3758184" y="1115568"/>
            <a:ext cx="2057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6E6E"/>
              </a:buClr>
              <a:buSzPts val="900"/>
              <a:buFont typeface="Trebuchet MS"/>
              <a:buNone/>
            </a:pPr>
            <a:r>
              <a:rPr b="1" i="0" lang="en-US" sz="900" u="none" cap="none" strike="noStrike">
                <a:solidFill>
                  <a:srgbClr val="0D6E6E"/>
                </a:solidFill>
                <a:latin typeface="Trebuchet MS"/>
                <a:ea typeface="Trebuchet MS"/>
                <a:cs typeface="Trebuchet MS"/>
                <a:sym typeface="Trebuchet MS"/>
              </a:rPr>
              <a:t>THE LIRA MIRAGE</a:t>
            </a:r>
            <a:endParaRPr b="0" i="0" sz="900" u="none" cap="none" strike="noStrike">
              <a:solidFill>
                <a:schemeClr val="dk1"/>
              </a:solidFill>
              <a:latin typeface="Calibri"/>
              <a:ea typeface="Calibri"/>
              <a:cs typeface="Calibri"/>
              <a:sym typeface="Calibri"/>
            </a:endParaRPr>
          </a:p>
        </p:txBody>
      </p:sp>
      <p:sp>
        <p:nvSpPr>
          <p:cNvPr id="86" name="Google Shape;86;p3"/>
          <p:cNvSpPr/>
          <p:nvPr/>
        </p:nvSpPr>
        <p:spPr>
          <a:xfrm>
            <a:off x="3328416" y="1508760"/>
            <a:ext cx="2514600" cy="2240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With annual inflation reaching 72% in 2022, nominal Turkish Lira figures are structurally deceptive. A budget line that grew from ₺28B to ₺50B appears to represent progress — it does not.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Every figure in this report has been restated in Real 2023 TRY using verified CPI deflators, making cross-year comparisons meaningful for the first time.</a:t>
            </a:r>
            <a:endParaRPr b="0" i="0" sz="950" u="none" cap="none" strike="noStrike">
              <a:solidFill>
                <a:schemeClr val="dk1"/>
              </a:solidFill>
              <a:latin typeface="Calibri"/>
              <a:ea typeface="Calibri"/>
              <a:cs typeface="Calibri"/>
              <a:sym typeface="Calibri"/>
            </a:endParaRPr>
          </a:p>
        </p:txBody>
      </p:sp>
      <p:sp>
        <p:nvSpPr>
          <p:cNvPr id="87" name="Google Shape;87;p3"/>
          <p:cNvSpPr/>
          <p:nvPr/>
        </p:nvSpPr>
        <p:spPr>
          <a:xfrm>
            <a:off x="6089904" y="1005840"/>
            <a:ext cx="2743200" cy="283464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6089904" y="1005840"/>
            <a:ext cx="2743200" cy="50292"/>
          </a:xfrm>
          <a:prstGeom prst="rect">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6217920" y="1078992"/>
            <a:ext cx="347472" cy="347472"/>
          </a:xfrm>
          <a:prstGeom prst="ellipse">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6217920" y="107899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03</a:t>
            </a:r>
            <a:endParaRPr b="0" i="0" sz="1100" u="none" cap="none" strike="noStrike">
              <a:solidFill>
                <a:schemeClr val="dk1"/>
              </a:solidFill>
              <a:latin typeface="Calibri"/>
              <a:ea typeface="Calibri"/>
              <a:cs typeface="Calibri"/>
              <a:sym typeface="Calibri"/>
            </a:endParaRPr>
          </a:p>
        </p:txBody>
      </p:sp>
      <p:sp>
        <p:nvSpPr>
          <p:cNvPr id="91" name="Google Shape;91;p3"/>
          <p:cNvSpPr/>
          <p:nvPr/>
        </p:nvSpPr>
        <p:spPr>
          <a:xfrm>
            <a:off x="6656832" y="1115568"/>
            <a:ext cx="2057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900"/>
              <a:buFont typeface="Trebuchet MS"/>
              <a:buNone/>
            </a:pPr>
            <a:r>
              <a:rPr b="1" i="0" lang="en-US" sz="900" u="none" cap="none" strike="noStrike">
                <a:solidFill>
                  <a:srgbClr val="0A1628"/>
                </a:solidFill>
                <a:latin typeface="Trebuchet MS"/>
                <a:ea typeface="Trebuchet MS"/>
                <a:cs typeface="Trebuchet MS"/>
                <a:sym typeface="Trebuchet MS"/>
              </a:rPr>
              <a:t>THE OUTCOME</a:t>
            </a:r>
            <a:endParaRPr b="0" i="0" sz="900" u="none" cap="none" strike="noStrike">
              <a:solidFill>
                <a:schemeClr val="dk1"/>
              </a:solidFill>
              <a:latin typeface="Calibri"/>
              <a:ea typeface="Calibri"/>
              <a:cs typeface="Calibri"/>
              <a:sym typeface="Calibri"/>
            </a:endParaRPr>
          </a:p>
        </p:txBody>
      </p:sp>
      <p:sp>
        <p:nvSpPr>
          <p:cNvPr id="92" name="Google Shape;92;p3"/>
          <p:cNvSpPr/>
          <p:nvPr/>
        </p:nvSpPr>
        <p:spPr>
          <a:xfrm>
            <a:off x="6227064" y="1508760"/>
            <a:ext cx="2514600" cy="2240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Once both traps were addressed, a clear and verifiable picture emerged. The analytical confidence in the numbers that follow is high. Figures are not estimates — they reflect real payments, real deflators, and real purchasing power.</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This is the honest version of Türkiye's fossil fuel story.</a:t>
            </a:r>
            <a:endParaRPr b="0" i="0" sz="950" u="none" cap="none" strike="noStrike">
              <a:solidFill>
                <a:schemeClr val="dk1"/>
              </a:solidFill>
              <a:latin typeface="Calibri"/>
              <a:ea typeface="Calibri"/>
              <a:cs typeface="Calibri"/>
              <a:sym typeface="Calibri"/>
            </a:endParaRPr>
          </a:p>
        </p:txBody>
      </p:sp>
      <p:sp>
        <p:nvSpPr>
          <p:cNvPr id="93" name="Google Shape;93;p3"/>
          <p:cNvSpPr/>
          <p:nvPr/>
        </p:nvSpPr>
        <p:spPr>
          <a:xfrm>
            <a:off x="292608" y="3977640"/>
            <a:ext cx="8503920" cy="932688"/>
          </a:xfrm>
          <a:prstGeom prst="rect">
            <a:avLst/>
          </a:prstGeom>
          <a:solidFill>
            <a:srgbClr val="0F2547"/>
          </a:solidFill>
          <a:ln cap="flat" cmpd="sng" w="12700">
            <a:solidFill>
              <a:srgbClr val="0F25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457200" y="4023360"/>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750"/>
              <a:buFont typeface="Trebuchet MS"/>
              <a:buNone/>
            </a:pPr>
            <a:r>
              <a:rPr b="1" i="0" lang="en-US" sz="750" u="none" cap="none" strike="noStrike">
                <a:solidFill>
                  <a:srgbClr val="2DD4A0"/>
                </a:solidFill>
                <a:latin typeface="Trebuchet MS"/>
                <a:ea typeface="Trebuchet MS"/>
                <a:cs typeface="Trebuchet MS"/>
                <a:sym typeface="Trebuchet MS"/>
              </a:rPr>
              <a:t>DEFLATOR REFERENCE  ·  Converting nominal TRY to Real 2023 TRY</a:t>
            </a:r>
            <a:endParaRPr b="0" i="0" sz="750" u="none" cap="none" strike="noStrike">
              <a:solidFill>
                <a:schemeClr val="dk1"/>
              </a:solidFill>
              <a:latin typeface="Calibri"/>
              <a:ea typeface="Calibri"/>
              <a:cs typeface="Calibri"/>
              <a:sym typeface="Calibri"/>
            </a:endParaRPr>
          </a:p>
        </p:txBody>
      </p:sp>
      <p:sp>
        <p:nvSpPr>
          <p:cNvPr id="95" name="Google Shape;95;p3"/>
          <p:cNvSpPr/>
          <p:nvPr/>
        </p:nvSpPr>
        <p:spPr>
          <a:xfrm>
            <a:off x="457200" y="4261104"/>
            <a:ext cx="2011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7F2"/>
              </a:buClr>
              <a:buSzPts val="800"/>
              <a:buFont typeface="Trebuchet MS"/>
              <a:buNone/>
            </a:pPr>
            <a:r>
              <a:rPr b="1" i="0" lang="en-US" sz="800" u="none" cap="none" strike="noStrike">
                <a:solidFill>
                  <a:srgbClr val="E8F7F2"/>
                </a:solidFill>
                <a:latin typeface="Trebuchet MS"/>
                <a:ea typeface="Trebuchet MS"/>
                <a:cs typeface="Trebuchet MS"/>
                <a:sym typeface="Trebuchet MS"/>
              </a:rPr>
              <a:t>2020  |  CPI ~12.3%  |  Deflator ×2.70</a:t>
            </a:r>
            <a:endParaRPr b="0" i="0" sz="800" u="none" cap="none" strike="noStrike">
              <a:solidFill>
                <a:schemeClr val="dk1"/>
              </a:solidFill>
              <a:latin typeface="Calibri"/>
              <a:ea typeface="Calibri"/>
              <a:cs typeface="Calibri"/>
              <a:sym typeface="Calibri"/>
            </a:endParaRPr>
          </a:p>
        </p:txBody>
      </p:sp>
      <p:sp>
        <p:nvSpPr>
          <p:cNvPr id="96" name="Google Shape;96;p3"/>
          <p:cNvSpPr/>
          <p:nvPr/>
        </p:nvSpPr>
        <p:spPr>
          <a:xfrm>
            <a:off x="457200" y="4480560"/>
            <a:ext cx="20116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50"/>
              <a:buFont typeface="Trebuchet MS"/>
              <a:buNone/>
            </a:pPr>
            <a:r>
              <a:rPr b="0" i="1" lang="en-US" sz="750" u="none" cap="none" strike="noStrike">
                <a:solidFill>
                  <a:srgbClr val="94A3B8"/>
                </a:solidFill>
                <a:latin typeface="Trebuchet MS"/>
                <a:ea typeface="Trebuchet MS"/>
                <a:cs typeface="Trebuchet MS"/>
                <a:sym typeface="Trebuchet MS"/>
              </a:rPr>
              <a:t>₺28B nominal → ₺88B real</a:t>
            </a:r>
            <a:endParaRPr b="0" i="0" sz="750" u="none" cap="none" strike="noStrike">
              <a:solidFill>
                <a:schemeClr val="dk1"/>
              </a:solidFill>
              <a:latin typeface="Calibri"/>
              <a:ea typeface="Calibri"/>
              <a:cs typeface="Calibri"/>
              <a:sym typeface="Calibri"/>
            </a:endParaRPr>
          </a:p>
        </p:txBody>
      </p:sp>
      <p:sp>
        <p:nvSpPr>
          <p:cNvPr id="97" name="Google Shape;97;p3"/>
          <p:cNvSpPr/>
          <p:nvPr/>
        </p:nvSpPr>
        <p:spPr>
          <a:xfrm>
            <a:off x="2578608" y="4261104"/>
            <a:ext cx="2011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7F2"/>
              </a:buClr>
              <a:buSzPts val="800"/>
              <a:buFont typeface="Trebuchet MS"/>
              <a:buNone/>
            </a:pPr>
            <a:r>
              <a:rPr b="1" i="0" lang="en-US" sz="800" u="none" cap="none" strike="noStrike">
                <a:solidFill>
                  <a:srgbClr val="E8F7F2"/>
                </a:solidFill>
                <a:latin typeface="Trebuchet MS"/>
                <a:ea typeface="Trebuchet MS"/>
                <a:cs typeface="Trebuchet MS"/>
                <a:sym typeface="Trebuchet MS"/>
              </a:rPr>
              <a:t>2021  |  CPI 19.6%  |  Deflator ×2.25</a:t>
            </a:r>
            <a:endParaRPr b="0" i="0" sz="800" u="none" cap="none" strike="noStrike">
              <a:solidFill>
                <a:schemeClr val="dk1"/>
              </a:solidFill>
              <a:latin typeface="Calibri"/>
              <a:ea typeface="Calibri"/>
              <a:cs typeface="Calibri"/>
              <a:sym typeface="Calibri"/>
            </a:endParaRPr>
          </a:p>
        </p:txBody>
      </p:sp>
      <p:sp>
        <p:nvSpPr>
          <p:cNvPr id="98" name="Google Shape;98;p3"/>
          <p:cNvSpPr/>
          <p:nvPr/>
        </p:nvSpPr>
        <p:spPr>
          <a:xfrm>
            <a:off x="2578608" y="4480560"/>
            <a:ext cx="20116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50"/>
              <a:buFont typeface="Trebuchet MS"/>
              <a:buNone/>
            </a:pPr>
            <a:r>
              <a:rPr b="0" i="1" lang="en-US" sz="750" u="none" cap="none" strike="noStrike">
                <a:solidFill>
                  <a:srgbClr val="94A3B8"/>
                </a:solidFill>
                <a:latin typeface="Trebuchet MS"/>
                <a:ea typeface="Trebuchet MS"/>
                <a:cs typeface="Trebuchet MS"/>
                <a:sym typeface="Trebuchet MS"/>
              </a:rPr>
              <a:t>₺29B nominal → ₺77B real</a:t>
            </a:r>
            <a:endParaRPr b="0" i="0" sz="750" u="none" cap="none" strike="noStrike">
              <a:solidFill>
                <a:schemeClr val="dk1"/>
              </a:solidFill>
              <a:latin typeface="Calibri"/>
              <a:ea typeface="Calibri"/>
              <a:cs typeface="Calibri"/>
              <a:sym typeface="Calibri"/>
            </a:endParaRPr>
          </a:p>
        </p:txBody>
      </p:sp>
      <p:sp>
        <p:nvSpPr>
          <p:cNvPr id="99" name="Google Shape;99;p3"/>
          <p:cNvSpPr/>
          <p:nvPr/>
        </p:nvSpPr>
        <p:spPr>
          <a:xfrm>
            <a:off x="4700016" y="4261104"/>
            <a:ext cx="2011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7F2"/>
              </a:buClr>
              <a:buSzPts val="800"/>
              <a:buFont typeface="Trebuchet MS"/>
              <a:buNone/>
            </a:pPr>
            <a:r>
              <a:rPr b="1" i="0" lang="en-US" sz="800" u="none" cap="none" strike="noStrike">
                <a:solidFill>
                  <a:srgbClr val="E8F7F2"/>
                </a:solidFill>
                <a:latin typeface="Trebuchet MS"/>
                <a:ea typeface="Trebuchet MS"/>
                <a:cs typeface="Trebuchet MS"/>
                <a:sym typeface="Trebuchet MS"/>
              </a:rPr>
              <a:t>2022  |  CPI 72.3%  |  Deflator ×1.47</a:t>
            </a:r>
            <a:endParaRPr b="0" i="0" sz="800" u="none" cap="none" strike="noStrike">
              <a:solidFill>
                <a:schemeClr val="dk1"/>
              </a:solidFill>
              <a:latin typeface="Calibri"/>
              <a:ea typeface="Calibri"/>
              <a:cs typeface="Calibri"/>
              <a:sym typeface="Calibri"/>
            </a:endParaRPr>
          </a:p>
        </p:txBody>
      </p:sp>
      <p:sp>
        <p:nvSpPr>
          <p:cNvPr id="100" name="Google Shape;100;p3"/>
          <p:cNvSpPr/>
          <p:nvPr/>
        </p:nvSpPr>
        <p:spPr>
          <a:xfrm>
            <a:off x="4700016" y="4480560"/>
            <a:ext cx="20116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50"/>
              <a:buFont typeface="Trebuchet MS"/>
              <a:buNone/>
            </a:pPr>
            <a:r>
              <a:rPr b="0" i="1" lang="en-US" sz="750" u="none" cap="none" strike="noStrike">
                <a:solidFill>
                  <a:srgbClr val="94A3B8"/>
                </a:solidFill>
                <a:latin typeface="Trebuchet MS"/>
                <a:ea typeface="Trebuchet MS"/>
                <a:cs typeface="Trebuchet MS"/>
                <a:sym typeface="Trebuchet MS"/>
              </a:rPr>
              <a:t>₺41B nominal → ₺62B real</a:t>
            </a:r>
            <a:endParaRPr b="0" i="0" sz="750" u="none" cap="none" strike="noStrike">
              <a:solidFill>
                <a:schemeClr val="dk1"/>
              </a:solidFill>
              <a:latin typeface="Calibri"/>
              <a:ea typeface="Calibri"/>
              <a:cs typeface="Calibri"/>
              <a:sym typeface="Calibri"/>
            </a:endParaRPr>
          </a:p>
        </p:txBody>
      </p:sp>
      <p:sp>
        <p:nvSpPr>
          <p:cNvPr id="101" name="Google Shape;101;p3"/>
          <p:cNvSpPr/>
          <p:nvPr/>
        </p:nvSpPr>
        <p:spPr>
          <a:xfrm>
            <a:off x="6821424" y="4261104"/>
            <a:ext cx="20116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F7F2"/>
              </a:buClr>
              <a:buSzPts val="800"/>
              <a:buFont typeface="Trebuchet MS"/>
              <a:buNone/>
            </a:pPr>
            <a:r>
              <a:rPr b="1" i="0" lang="en-US" sz="800" u="none" cap="none" strike="noStrike">
                <a:solidFill>
                  <a:srgbClr val="E8F7F2"/>
                </a:solidFill>
                <a:latin typeface="Trebuchet MS"/>
                <a:ea typeface="Trebuchet MS"/>
                <a:cs typeface="Trebuchet MS"/>
                <a:sym typeface="Trebuchet MS"/>
              </a:rPr>
              <a:t>2023  |  CPI 53.9%  |  Deflator ×1.00</a:t>
            </a:r>
            <a:endParaRPr b="0" i="0" sz="800" u="none" cap="none" strike="noStrike">
              <a:solidFill>
                <a:schemeClr val="dk1"/>
              </a:solidFill>
              <a:latin typeface="Calibri"/>
              <a:ea typeface="Calibri"/>
              <a:cs typeface="Calibri"/>
              <a:sym typeface="Calibri"/>
            </a:endParaRPr>
          </a:p>
        </p:txBody>
      </p:sp>
      <p:sp>
        <p:nvSpPr>
          <p:cNvPr id="102" name="Google Shape;102;p3"/>
          <p:cNvSpPr/>
          <p:nvPr/>
        </p:nvSpPr>
        <p:spPr>
          <a:xfrm>
            <a:off x="6821424" y="4480560"/>
            <a:ext cx="201168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50"/>
              <a:buFont typeface="Trebuchet MS"/>
              <a:buNone/>
            </a:pPr>
            <a:r>
              <a:rPr b="0" i="1" lang="en-US" sz="750" u="none" cap="none" strike="noStrike">
                <a:solidFill>
                  <a:srgbClr val="94A3B8"/>
                </a:solidFill>
                <a:latin typeface="Trebuchet MS"/>
                <a:ea typeface="Trebuchet MS"/>
                <a:cs typeface="Trebuchet MS"/>
                <a:sym typeface="Trebuchet MS"/>
              </a:rPr>
              <a:t>₺50B nominal → ₺50B real</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107" name="Shape 107"/>
        <p:cNvGrpSpPr/>
        <p:nvPr/>
      </p:nvGrpSpPr>
      <p:grpSpPr>
        <a:xfrm>
          <a:off x="0" y="0"/>
          <a:ext cx="0" cy="0"/>
          <a:chOff x="0" y="0"/>
          <a:chExt cx="0" cy="0"/>
        </a:xfrm>
      </p:grpSpPr>
      <p:sp>
        <p:nvSpPr>
          <p:cNvPr id="108" name="Google Shape;108;p4"/>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CORE FINDING</a:t>
            </a:r>
            <a:endParaRPr b="0" i="0" sz="750" u="none" cap="none" strike="noStrike">
              <a:solidFill>
                <a:schemeClr val="dk1"/>
              </a:solidFill>
              <a:latin typeface="Calibri"/>
              <a:ea typeface="Calibri"/>
              <a:cs typeface="Calibri"/>
              <a:sym typeface="Calibri"/>
            </a:endParaRPr>
          </a:p>
        </p:txBody>
      </p:sp>
      <p:sp>
        <p:nvSpPr>
          <p:cNvPr id="112" name="Google Shape;112;p4"/>
          <p:cNvSpPr/>
          <p:nvPr/>
        </p:nvSpPr>
        <p:spPr>
          <a:xfrm>
            <a:off x="292608" y="109728"/>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2100"/>
              <a:buFont typeface="Trebuchet MS"/>
              <a:buNone/>
            </a:pPr>
            <a:r>
              <a:rPr b="1" i="0" lang="en-US" sz="2100" u="none" cap="none" strike="noStrike">
                <a:solidFill>
                  <a:srgbClr val="0A1628"/>
                </a:solidFill>
                <a:latin typeface="Trebuchet MS"/>
                <a:ea typeface="Trebuchet MS"/>
                <a:cs typeface="Trebuchet MS"/>
                <a:sym typeface="Trebuchet MS"/>
              </a:rPr>
              <a:t>THE PHANTOM IN PLAIN SIGHT</a:t>
            </a:r>
            <a:endParaRPr b="0" i="0" sz="2100" u="none" cap="none" strike="noStrike">
              <a:solidFill>
                <a:schemeClr val="dk1"/>
              </a:solidFill>
              <a:latin typeface="Calibri"/>
              <a:ea typeface="Calibri"/>
              <a:cs typeface="Calibri"/>
              <a:sym typeface="Calibri"/>
            </a:endParaRPr>
          </a:p>
        </p:txBody>
      </p:sp>
      <p:sp>
        <p:nvSpPr>
          <p:cNvPr id="113" name="Google Shape;113;p4"/>
          <p:cNvSpPr/>
          <p:nvPr/>
        </p:nvSpPr>
        <p:spPr>
          <a:xfrm>
            <a:off x="292608" y="512064"/>
            <a:ext cx="8503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Trebuchet MS"/>
              <a:buNone/>
            </a:pPr>
            <a:r>
              <a:rPr b="0" i="1" lang="en-US" sz="1200" u="none" cap="none" strike="noStrike">
                <a:solidFill>
                  <a:srgbClr val="1E293B"/>
                </a:solidFill>
                <a:latin typeface="Trebuchet MS"/>
                <a:ea typeface="Trebuchet MS"/>
                <a:cs typeface="Trebuchet MS"/>
                <a:sym typeface="Trebuchet MS"/>
              </a:rPr>
              <a:t>Budget figures climbed 79% — yet real purchasing power delivered to citizens fell by nearly half</a:t>
            </a:r>
            <a:endParaRPr b="0" i="0" sz="1200" u="none" cap="none" strike="noStrike">
              <a:solidFill>
                <a:schemeClr val="dk1"/>
              </a:solidFill>
              <a:latin typeface="Calibri"/>
              <a:ea typeface="Calibri"/>
              <a:cs typeface="Calibri"/>
              <a:sym typeface="Calibri"/>
            </a:endParaRPr>
          </a:p>
        </p:txBody>
      </p:sp>
      <p:sp>
        <p:nvSpPr>
          <p:cNvPr id="114" name="Google Shape;114;p4"/>
          <p:cNvSpPr/>
          <p:nvPr/>
        </p:nvSpPr>
        <p:spPr>
          <a:xfrm>
            <a:off x="292608" y="1005840"/>
            <a:ext cx="4114800" cy="1874520"/>
          </a:xfrm>
          <a:prstGeom prst="rect">
            <a:avLst/>
          </a:prstGeom>
          <a:solidFill>
            <a:srgbClr val="FFFFFF"/>
          </a:solidFill>
          <a:ln cap="flat" cmpd="sng" w="1015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292608" y="1005840"/>
            <a:ext cx="4114800" cy="50292"/>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457200" y="109728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Trebuchet MS"/>
              <a:buNone/>
            </a:pPr>
            <a:r>
              <a:rPr b="1" i="0" lang="en-US" sz="800" u="none" cap="none" strike="noStrike">
                <a:solidFill>
                  <a:srgbClr val="64748B"/>
                </a:solidFill>
                <a:latin typeface="Trebuchet MS"/>
                <a:ea typeface="Trebuchet MS"/>
                <a:cs typeface="Trebuchet MS"/>
                <a:sym typeface="Trebuchet MS"/>
              </a:rPr>
              <a:t>FOUR-YEAR NOMINAL TOTAL</a:t>
            </a:r>
            <a:endParaRPr b="0" i="0" sz="800" u="none" cap="none" strike="noStrike">
              <a:solidFill>
                <a:schemeClr val="dk1"/>
              </a:solidFill>
              <a:latin typeface="Calibri"/>
              <a:ea typeface="Calibri"/>
              <a:cs typeface="Calibri"/>
              <a:sym typeface="Calibri"/>
            </a:endParaRPr>
          </a:p>
        </p:txBody>
      </p:sp>
      <p:sp>
        <p:nvSpPr>
          <p:cNvPr id="117" name="Google Shape;117;p4"/>
          <p:cNvSpPr/>
          <p:nvPr/>
        </p:nvSpPr>
        <p:spPr>
          <a:xfrm>
            <a:off x="457200" y="1371600"/>
            <a:ext cx="374904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3200"/>
              <a:buFont typeface="Trebuchet MS"/>
              <a:buNone/>
            </a:pPr>
            <a:r>
              <a:rPr b="1" i="0" lang="en-US" sz="3200" u="none" cap="none" strike="noStrike">
                <a:solidFill>
                  <a:srgbClr val="0A1628"/>
                </a:solidFill>
                <a:latin typeface="Trebuchet MS"/>
                <a:ea typeface="Trebuchet MS"/>
                <a:cs typeface="Trebuchet MS"/>
                <a:sym typeface="Trebuchet MS"/>
              </a:rPr>
              <a:t>₺147.4B</a:t>
            </a:r>
            <a:endParaRPr b="0" i="0" sz="3200" u="none" cap="none" strike="noStrike">
              <a:solidFill>
                <a:schemeClr val="dk1"/>
              </a:solidFill>
              <a:latin typeface="Calibri"/>
              <a:ea typeface="Calibri"/>
              <a:cs typeface="Calibri"/>
              <a:sym typeface="Calibri"/>
            </a:endParaRPr>
          </a:p>
        </p:txBody>
      </p:sp>
      <p:sp>
        <p:nvSpPr>
          <p:cNvPr id="118" name="Google Shape;118;p4"/>
          <p:cNvSpPr/>
          <p:nvPr/>
        </p:nvSpPr>
        <p:spPr>
          <a:xfrm>
            <a:off x="457200" y="2148840"/>
            <a:ext cx="3749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Trebuchet MS"/>
              <a:buNone/>
            </a:pPr>
            <a:r>
              <a:rPr b="0" i="0" lang="en-US" sz="950" u="none" cap="none" strike="noStrike">
                <a:solidFill>
                  <a:srgbClr val="64748B"/>
                </a:solidFill>
                <a:latin typeface="Trebuchet MS"/>
                <a:ea typeface="Trebuchet MS"/>
                <a:cs typeface="Trebuchet MS"/>
                <a:sym typeface="Trebuchet MS"/>
              </a:rPr>
              <a:t>What the budget books record — inflated lira at face value</a:t>
            </a:r>
            <a:endParaRPr b="0" i="0" sz="950" u="none" cap="none" strike="noStrike">
              <a:solidFill>
                <a:schemeClr val="dk1"/>
              </a:solidFill>
              <a:latin typeface="Calibri"/>
              <a:ea typeface="Calibri"/>
              <a:cs typeface="Calibri"/>
              <a:sym typeface="Calibri"/>
            </a:endParaRPr>
          </a:p>
        </p:txBody>
      </p:sp>
      <p:sp>
        <p:nvSpPr>
          <p:cNvPr id="119" name="Google Shape;119;p4"/>
          <p:cNvSpPr/>
          <p:nvPr/>
        </p:nvSpPr>
        <p:spPr>
          <a:xfrm>
            <a:off x="4681728" y="1005840"/>
            <a:ext cx="4114800" cy="1874520"/>
          </a:xfrm>
          <a:prstGeom prst="rect">
            <a:avLst/>
          </a:prstGeom>
          <a:solidFill>
            <a:srgbClr val="FFFFFF"/>
          </a:solidFill>
          <a:ln cap="flat" cmpd="sng" w="19050">
            <a:solidFill>
              <a:srgbClr val="1A9E6E"/>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4681728" y="1005840"/>
            <a:ext cx="41148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4846320" y="109728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800"/>
              <a:buFont typeface="Trebuchet MS"/>
              <a:buNone/>
            </a:pPr>
            <a:r>
              <a:rPr b="1" i="0" lang="en-US" sz="800" u="none" cap="none" strike="noStrike">
                <a:solidFill>
                  <a:srgbClr val="1A9E6E"/>
                </a:solidFill>
                <a:latin typeface="Trebuchet MS"/>
                <a:ea typeface="Trebuchet MS"/>
                <a:cs typeface="Trebuchet MS"/>
                <a:sym typeface="Trebuchet MS"/>
              </a:rPr>
              <a:t>FOUR-YEAR REAL TOTAL</a:t>
            </a:r>
            <a:endParaRPr b="0" i="0" sz="800" u="none" cap="none" strike="noStrike">
              <a:solidFill>
                <a:schemeClr val="dk1"/>
              </a:solidFill>
              <a:latin typeface="Calibri"/>
              <a:ea typeface="Calibri"/>
              <a:cs typeface="Calibri"/>
              <a:sym typeface="Calibri"/>
            </a:endParaRPr>
          </a:p>
        </p:txBody>
      </p:sp>
      <p:sp>
        <p:nvSpPr>
          <p:cNvPr id="122" name="Google Shape;122;p4"/>
          <p:cNvSpPr/>
          <p:nvPr/>
        </p:nvSpPr>
        <p:spPr>
          <a:xfrm>
            <a:off x="4846320" y="1371600"/>
            <a:ext cx="374904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3200"/>
              <a:buFont typeface="Trebuchet MS"/>
              <a:buNone/>
            </a:pPr>
            <a:r>
              <a:rPr b="1" i="0" lang="en-US" sz="3200" u="none" cap="none" strike="noStrike">
                <a:solidFill>
                  <a:srgbClr val="1A9E6E"/>
                </a:solidFill>
                <a:latin typeface="Trebuchet MS"/>
                <a:ea typeface="Trebuchet MS"/>
                <a:cs typeface="Trebuchet MS"/>
                <a:sym typeface="Trebuchet MS"/>
              </a:rPr>
              <a:t>₺277.7B</a:t>
            </a:r>
            <a:endParaRPr b="0" i="0" sz="3200" u="none" cap="none" strike="noStrike">
              <a:solidFill>
                <a:schemeClr val="dk1"/>
              </a:solidFill>
              <a:latin typeface="Calibri"/>
              <a:ea typeface="Calibri"/>
              <a:cs typeface="Calibri"/>
              <a:sym typeface="Calibri"/>
            </a:endParaRPr>
          </a:p>
        </p:txBody>
      </p:sp>
      <p:sp>
        <p:nvSpPr>
          <p:cNvPr id="123" name="Google Shape;123;p4"/>
          <p:cNvSpPr/>
          <p:nvPr/>
        </p:nvSpPr>
        <p:spPr>
          <a:xfrm>
            <a:off x="4846320" y="2148840"/>
            <a:ext cx="3749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Trebuchet MS"/>
              <a:buNone/>
            </a:pPr>
            <a:r>
              <a:rPr b="0" i="0" lang="en-US" sz="950" u="none" cap="none" strike="noStrike">
                <a:solidFill>
                  <a:srgbClr val="64748B"/>
                </a:solidFill>
                <a:latin typeface="Trebuchet MS"/>
                <a:ea typeface="Trebuchet MS"/>
                <a:cs typeface="Trebuchet MS"/>
                <a:sym typeface="Trebuchet MS"/>
              </a:rPr>
              <a:t>True economic weight once inflation is stripped away</a:t>
            </a:r>
            <a:endParaRPr b="0" i="0" sz="950" u="none" cap="none" strike="noStrike">
              <a:solidFill>
                <a:schemeClr val="dk1"/>
              </a:solidFill>
              <a:latin typeface="Calibri"/>
              <a:ea typeface="Calibri"/>
              <a:cs typeface="Calibri"/>
              <a:sym typeface="Calibri"/>
            </a:endParaRPr>
          </a:p>
        </p:txBody>
      </p:sp>
      <p:sp>
        <p:nvSpPr>
          <p:cNvPr id="124" name="Google Shape;124;p4"/>
          <p:cNvSpPr/>
          <p:nvPr/>
        </p:nvSpPr>
        <p:spPr>
          <a:xfrm>
            <a:off x="292608" y="3017520"/>
            <a:ext cx="8503920" cy="658368"/>
          </a:xfrm>
          <a:prstGeom prst="rect">
            <a:avLst/>
          </a:prstGeom>
          <a:solidFill>
            <a:srgbClr val="EBF7F1"/>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292608" y="3017520"/>
            <a:ext cx="64008" cy="658368"/>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475488" y="3090672"/>
            <a:ext cx="82296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Trebuchet MS"/>
              <a:buNone/>
            </a:pPr>
            <a:r>
              <a:rPr b="0" i="0" lang="en-US" sz="1050" u="none" cap="none" strike="noStrike">
                <a:solidFill>
                  <a:srgbClr val="1E293B"/>
                </a:solidFill>
                <a:latin typeface="Trebuchet MS"/>
                <a:ea typeface="Trebuchet MS"/>
                <a:cs typeface="Trebuchet MS"/>
                <a:sym typeface="Trebuchet MS"/>
              </a:rPr>
              <a:t>The Lira depreciated faster than any budget increase could compensate. In real terms, every year from 2020 onward delivered less effective support than the year before it — while headline numbers told the opposite story.</a:t>
            </a:r>
            <a:endParaRPr b="0" i="0" sz="1050" u="none" cap="none" strike="noStrike">
              <a:solidFill>
                <a:schemeClr val="dk1"/>
              </a:solidFill>
              <a:latin typeface="Calibri"/>
              <a:ea typeface="Calibri"/>
              <a:cs typeface="Calibri"/>
              <a:sym typeface="Calibri"/>
            </a:endParaRPr>
          </a:p>
        </p:txBody>
      </p:sp>
      <p:sp>
        <p:nvSpPr>
          <p:cNvPr id="127" name="Google Shape;127;p4"/>
          <p:cNvSpPr/>
          <p:nvPr/>
        </p:nvSpPr>
        <p:spPr>
          <a:xfrm>
            <a:off x="292608" y="3822192"/>
            <a:ext cx="8503920" cy="1078992"/>
          </a:xfrm>
          <a:prstGeom prst="rect">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57200" y="3877056"/>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YEAR-ON-YEAR COMPARISON</a:t>
            </a:r>
            <a:endParaRPr b="0" i="0" sz="800" u="none" cap="none" strike="noStrike">
              <a:solidFill>
                <a:schemeClr val="dk1"/>
              </a:solidFill>
              <a:latin typeface="Calibri"/>
              <a:ea typeface="Calibri"/>
              <a:cs typeface="Calibri"/>
              <a:sym typeface="Calibri"/>
            </a:endParaRPr>
          </a:p>
        </p:txBody>
      </p:sp>
      <p:sp>
        <p:nvSpPr>
          <p:cNvPr id="129" name="Google Shape;129;p4"/>
          <p:cNvSpPr/>
          <p:nvPr/>
        </p:nvSpPr>
        <p:spPr>
          <a:xfrm>
            <a:off x="457200" y="4133088"/>
            <a:ext cx="40233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50"/>
              <a:buFont typeface="Trebuchet MS"/>
              <a:buNone/>
            </a:pPr>
            <a:r>
              <a:rPr b="0" i="0" lang="en-US" sz="1050" u="none" cap="none" strike="noStrike">
                <a:solidFill>
                  <a:srgbClr val="94A3B8"/>
                </a:solidFill>
                <a:latin typeface="Trebuchet MS"/>
                <a:ea typeface="Trebuchet MS"/>
                <a:cs typeface="Trebuchet MS"/>
                <a:sym typeface="Trebuchet MS"/>
              </a:rPr>
              <a:t>Nominal TRY:   ₺27.9B  →  ₺50.0B   (+79%)</a:t>
            </a:r>
            <a:endParaRPr b="0" i="0" sz="1050" u="none" cap="none" strike="noStrike">
              <a:solidFill>
                <a:schemeClr val="dk1"/>
              </a:solidFill>
              <a:latin typeface="Calibri"/>
              <a:ea typeface="Calibri"/>
              <a:cs typeface="Calibri"/>
              <a:sym typeface="Calibri"/>
            </a:endParaRPr>
          </a:p>
        </p:txBody>
      </p:sp>
      <p:sp>
        <p:nvSpPr>
          <p:cNvPr id="130" name="Google Shape;130;p4"/>
          <p:cNvSpPr/>
          <p:nvPr/>
        </p:nvSpPr>
        <p:spPr>
          <a:xfrm>
            <a:off x="4572000" y="4133088"/>
            <a:ext cx="4114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1050"/>
              <a:buFont typeface="Trebuchet MS"/>
              <a:buNone/>
            </a:pPr>
            <a:r>
              <a:rPr b="1" i="0" lang="en-US" sz="1050" u="none" cap="none" strike="noStrike">
                <a:solidFill>
                  <a:srgbClr val="2DD4A0"/>
                </a:solidFill>
                <a:latin typeface="Trebuchet MS"/>
                <a:ea typeface="Trebuchet MS"/>
                <a:cs typeface="Trebuchet MS"/>
                <a:sym typeface="Trebuchet MS"/>
              </a:rPr>
              <a:t>Real 2023 TRY:   ₺88.3B  →  ₺50.0B   (−43%)</a:t>
            </a:r>
            <a:endParaRPr b="0" i="0" sz="1050" u="none" cap="none" strike="noStrike">
              <a:solidFill>
                <a:schemeClr val="dk1"/>
              </a:solidFill>
              <a:latin typeface="Calibri"/>
              <a:ea typeface="Calibri"/>
              <a:cs typeface="Calibri"/>
              <a:sym typeface="Calibri"/>
            </a:endParaRPr>
          </a:p>
        </p:txBody>
      </p:sp>
      <p:sp>
        <p:nvSpPr>
          <p:cNvPr id="131" name="Google Shape;131;p4"/>
          <p:cNvSpPr/>
          <p:nvPr/>
        </p:nvSpPr>
        <p:spPr>
          <a:xfrm>
            <a:off x="457200" y="4407408"/>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Trebuchet MS"/>
              <a:buNone/>
            </a:pPr>
            <a:r>
              <a:rPr b="0" i="1" lang="en-US" sz="900" u="none" cap="none" strike="noStrike">
                <a:solidFill>
                  <a:srgbClr val="94A3B8"/>
                </a:solidFill>
                <a:latin typeface="Trebuchet MS"/>
                <a:ea typeface="Trebuchet MS"/>
                <a:cs typeface="Trebuchet MS"/>
                <a:sym typeface="Trebuchet MS"/>
              </a:rPr>
              <a:t>USD equivalent:   $3.97B  →  $2.11B   (−47%)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136" name="Shape 136"/>
        <p:cNvGrpSpPr/>
        <p:nvPr/>
      </p:nvGrpSpPr>
      <p:grpSpPr>
        <a:xfrm>
          <a:off x="0" y="0"/>
          <a:ext cx="0" cy="0"/>
          <a:chOff x="0" y="0"/>
          <a:chExt cx="0" cy="0"/>
        </a:xfrm>
      </p:grpSpPr>
      <p:sp>
        <p:nvSpPr>
          <p:cNvPr id="137" name="Google Shape;137;p5"/>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FINDING  1</a:t>
            </a:r>
            <a:endParaRPr b="0" i="0" sz="750" u="none" cap="none" strike="noStrike">
              <a:solidFill>
                <a:schemeClr val="dk1"/>
              </a:solidFill>
              <a:latin typeface="Calibri"/>
              <a:ea typeface="Calibri"/>
              <a:cs typeface="Calibri"/>
              <a:sym typeface="Calibri"/>
            </a:endParaRPr>
          </a:p>
        </p:txBody>
      </p:sp>
      <p:sp>
        <p:nvSpPr>
          <p:cNvPr id="141" name="Google Shape;141;p5"/>
          <p:cNvSpPr/>
          <p:nvPr/>
        </p:nvSpPr>
        <p:spPr>
          <a:xfrm>
            <a:off x="274320" y="475488"/>
            <a:ext cx="5486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50"/>
              <a:buFont typeface="Trebuchet MS"/>
              <a:buNone/>
            </a:pPr>
            <a:r>
              <a:rPr b="1" i="0" lang="en-US" sz="1650" u="none" cap="none" strike="noStrike">
                <a:solidFill>
                  <a:srgbClr val="1E293B"/>
                </a:solidFill>
                <a:latin typeface="Trebuchet MS"/>
                <a:ea typeface="Trebuchet MS"/>
                <a:cs typeface="Trebuchet MS"/>
                <a:sym typeface="Trebuchet MS"/>
              </a:rPr>
              <a:t>Budget lines diverge: a 79% rise that conceals a 43% collapse</a:t>
            </a:r>
            <a:endParaRPr b="0" i="0" sz="1650" u="none" cap="none" strike="noStrike">
              <a:solidFill>
                <a:schemeClr val="dk1"/>
              </a:solidFill>
              <a:latin typeface="Calibri"/>
              <a:ea typeface="Calibri"/>
              <a:cs typeface="Calibri"/>
              <a:sym typeface="Calibri"/>
            </a:endParaRPr>
          </a:p>
        </p:txBody>
      </p:sp>
      <p:graphicFrame>
        <p:nvGraphicFramePr>
          <p:cNvPr id="142" name="Google Shape;142;p5"/>
          <p:cNvGraphicFramePr/>
          <p:nvPr/>
        </p:nvGraphicFramePr>
        <p:xfrm>
          <a:off x="292608" y="1005840"/>
          <a:ext cx="5577840" cy="3520440"/>
        </p:xfrm>
        <a:graphic>
          <a:graphicData uri="http://schemas.openxmlformats.org/drawingml/2006/chart">
            <c:chart r:id="rId3"/>
          </a:graphicData>
        </a:graphic>
      </p:graphicFrame>
      <p:sp>
        <p:nvSpPr>
          <p:cNvPr id="143" name="Google Shape;143;p5"/>
          <p:cNvSpPr/>
          <p:nvPr/>
        </p:nvSpPr>
        <p:spPr>
          <a:xfrm>
            <a:off x="6035040" y="1005840"/>
            <a:ext cx="2880360" cy="3749040"/>
          </a:xfrm>
          <a:prstGeom prst="rect">
            <a:avLst/>
          </a:prstGeom>
          <a:solidFill>
            <a:srgbClr val="0A1628"/>
          </a:solidFill>
          <a:ln cap="flat" cmpd="sng" w="12700">
            <a:solidFill>
              <a:srgbClr val="0A162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6035040" y="1005840"/>
            <a:ext cx="288036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6172200" y="1097280"/>
            <a:ext cx="2606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KEY TAKEAWAYS</a:t>
            </a:r>
            <a:endParaRPr b="0" i="0" sz="800" u="none" cap="none" strike="noStrike">
              <a:solidFill>
                <a:schemeClr val="dk1"/>
              </a:solidFill>
              <a:latin typeface="Calibri"/>
              <a:ea typeface="Calibri"/>
              <a:cs typeface="Calibri"/>
              <a:sym typeface="Calibri"/>
            </a:endParaRPr>
          </a:p>
        </p:txBody>
      </p:sp>
      <p:cxnSp>
        <p:nvCxnSpPr>
          <p:cNvPr id="146" name="Google Shape;146;p5"/>
          <p:cNvCxnSpPr/>
          <p:nvPr/>
        </p:nvCxnSpPr>
        <p:spPr>
          <a:xfrm>
            <a:off x="6172200" y="1371600"/>
            <a:ext cx="2606040" cy="0"/>
          </a:xfrm>
          <a:prstGeom prst="straightConnector1">
            <a:avLst/>
          </a:prstGeom>
          <a:noFill/>
          <a:ln cap="flat" cmpd="sng" w="9525">
            <a:solidFill>
              <a:srgbClr val="0D6E6E"/>
            </a:solidFill>
            <a:prstDash val="solid"/>
            <a:round/>
            <a:headEnd len="sm" w="sm" type="none"/>
            <a:tailEnd len="sm" w="sm" type="none"/>
          </a:ln>
        </p:spPr>
      </p:cxnSp>
      <p:sp>
        <p:nvSpPr>
          <p:cNvPr id="147" name="Google Shape;147;p5"/>
          <p:cNvSpPr/>
          <p:nvPr/>
        </p:nvSpPr>
        <p:spPr>
          <a:xfrm>
            <a:off x="6163056" y="1527048"/>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6163056" y="1527048"/>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1</a:t>
            </a:r>
            <a:endParaRPr b="0" i="0" sz="750" u="none" cap="none" strike="noStrike">
              <a:solidFill>
                <a:schemeClr val="dk1"/>
              </a:solidFill>
              <a:latin typeface="Calibri"/>
              <a:ea typeface="Calibri"/>
              <a:cs typeface="Calibri"/>
              <a:sym typeface="Calibri"/>
            </a:endParaRPr>
          </a:p>
        </p:txBody>
      </p:sp>
      <p:sp>
        <p:nvSpPr>
          <p:cNvPr id="149" name="Google Shape;149;p5"/>
          <p:cNvSpPr/>
          <p:nvPr/>
        </p:nvSpPr>
        <p:spPr>
          <a:xfrm>
            <a:off x="6492240" y="1517904"/>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The nominal line rises steadily from ₺27.9B to ₺50.0B — an appearance of growing commitment</a:t>
            </a:r>
            <a:endParaRPr b="0" i="0" sz="950" u="none" cap="none" strike="noStrike">
              <a:solidFill>
                <a:schemeClr val="dk1"/>
              </a:solidFill>
              <a:latin typeface="Calibri"/>
              <a:ea typeface="Calibri"/>
              <a:cs typeface="Calibri"/>
              <a:sym typeface="Calibri"/>
            </a:endParaRPr>
          </a:p>
        </p:txBody>
      </p:sp>
      <p:sp>
        <p:nvSpPr>
          <p:cNvPr id="150" name="Google Shape;150;p5"/>
          <p:cNvSpPr/>
          <p:nvPr/>
        </p:nvSpPr>
        <p:spPr>
          <a:xfrm>
            <a:off x="6163056" y="2551176"/>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6163056" y="2551176"/>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2</a:t>
            </a:r>
            <a:endParaRPr b="0" i="0" sz="750" u="none" cap="none" strike="noStrike">
              <a:solidFill>
                <a:schemeClr val="dk1"/>
              </a:solidFill>
              <a:latin typeface="Calibri"/>
              <a:ea typeface="Calibri"/>
              <a:cs typeface="Calibri"/>
              <a:sym typeface="Calibri"/>
            </a:endParaRPr>
          </a:p>
        </p:txBody>
      </p:sp>
      <p:sp>
        <p:nvSpPr>
          <p:cNvPr id="152" name="Google Shape;152;p5"/>
          <p:cNvSpPr/>
          <p:nvPr/>
        </p:nvSpPr>
        <p:spPr>
          <a:xfrm>
            <a:off x="6492240" y="2542032"/>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The real line tells the opposite story: ₺88.3B erodes to ₺50.0B as inflation overtook every increase</a:t>
            </a:r>
            <a:endParaRPr b="0" i="0" sz="950" u="none" cap="none" strike="noStrike">
              <a:solidFill>
                <a:schemeClr val="dk1"/>
              </a:solidFill>
              <a:latin typeface="Calibri"/>
              <a:ea typeface="Calibri"/>
              <a:cs typeface="Calibri"/>
              <a:sym typeface="Calibri"/>
            </a:endParaRPr>
          </a:p>
        </p:txBody>
      </p:sp>
      <p:sp>
        <p:nvSpPr>
          <p:cNvPr id="153" name="Google Shape;153;p5"/>
          <p:cNvSpPr/>
          <p:nvPr/>
        </p:nvSpPr>
        <p:spPr>
          <a:xfrm>
            <a:off x="6163056" y="3575304"/>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6163056" y="3575304"/>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3</a:t>
            </a:r>
            <a:endParaRPr b="0" i="0" sz="750" u="none" cap="none" strike="noStrike">
              <a:solidFill>
                <a:schemeClr val="dk1"/>
              </a:solidFill>
              <a:latin typeface="Calibri"/>
              <a:ea typeface="Calibri"/>
              <a:cs typeface="Calibri"/>
              <a:sym typeface="Calibri"/>
            </a:endParaRPr>
          </a:p>
        </p:txBody>
      </p:sp>
      <p:sp>
        <p:nvSpPr>
          <p:cNvPr id="155" name="Google Shape;155;p5"/>
          <p:cNvSpPr/>
          <p:nvPr/>
        </p:nvSpPr>
        <p:spPr>
          <a:xfrm>
            <a:off x="6492240" y="3566160"/>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By 2023 both lines converge at ₺50B — a statistical coincidence that masks four years of declining real support</a:t>
            </a:r>
            <a:endParaRPr b="0" i="0" sz="950" u="none" cap="none" strike="noStrike">
              <a:solidFill>
                <a:schemeClr val="dk1"/>
              </a:solidFill>
              <a:latin typeface="Calibri"/>
              <a:ea typeface="Calibri"/>
              <a:cs typeface="Calibri"/>
              <a:sym typeface="Calibri"/>
            </a:endParaRPr>
          </a:p>
        </p:txBody>
      </p:sp>
      <p:sp>
        <p:nvSpPr>
          <p:cNvPr id="156" name="Google Shape;156;p5"/>
          <p:cNvSpPr/>
          <p:nvPr/>
        </p:nvSpPr>
        <p:spPr>
          <a:xfrm>
            <a:off x="292608" y="4754880"/>
            <a:ext cx="5577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680"/>
              <a:buFont typeface="Trebuchet MS"/>
              <a:buNone/>
            </a:pPr>
            <a:r>
              <a:rPr b="0" i="1" lang="en-US" sz="680" u="none" cap="none" strike="noStrike">
                <a:solidFill>
                  <a:srgbClr val="64748B"/>
                </a:solidFill>
                <a:latin typeface="Trebuchet MS"/>
                <a:ea typeface="Trebuchet MS"/>
                <a:cs typeface="Trebuchet MS"/>
                <a:sym typeface="Trebuchet MS"/>
              </a:rPr>
              <a:t>Data: Türkiye Fossil Fuel Support Database 2020–2023 · All monetary values expressed in Real 2023 TRY</a:t>
            </a:r>
            <a:endParaRPr b="0" i="0" sz="68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161" name="Shape 161"/>
        <p:cNvGrpSpPr/>
        <p:nvPr/>
      </p:nvGrpSpPr>
      <p:grpSpPr>
        <a:xfrm>
          <a:off x="0" y="0"/>
          <a:ext cx="0" cy="0"/>
          <a:chOff x="0" y="0"/>
          <a:chExt cx="0" cy="0"/>
        </a:xfrm>
      </p:grpSpPr>
      <p:sp>
        <p:nvSpPr>
          <p:cNvPr id="162" name="Google Shape;162;p6"/>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FINDING  2</a:t>
            </a:r>
            <a:endParaRPr b="0" i="0" sz="750" u="none" cap="none" strike="noStrike">
              <a:solidFill>
                <a:schemeClr val="dk1"/>
              </a:solidFill>
              <a:latin typeface="Calibri"/>
              <a:ea typeface="Calibri"/>
              <a:cs typeface="Calibri"/>
              <a:sym typeface="Calibri"/>
            </a:endParaRPr>
          </a:p>
        </p:txBody>
      </p:sp>
      <p:sp>
        <p:nvSpPr>
          <p:cNvPr id="166" name="Google Shape;166;p6"/>
          <p:cNvSpPr/>
          <p:nvPr/>
        </p:nvSpPr>
        <p:spPr>
          <a:xfrm>
            <a:off x="274320" y="475488"/>
            <a:ext cx="5486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50"/>
              <a:buFont typeface="Trebuchet MS"/>
              <a:buNone/>
            </a:pPr>
            <a:r>
              <a:rPr b="1" i="0" lang="en-US" sz="1650" u="none" cap="none" strike="noStrike">
                <a:solidFill>
                  <a:srgbClr val="1E293B"/>
                </a:solidFill>
                <a:latin typeface="Trebuchet MS"/>
                <a:ea typeface="Trebuchet MS"/>
                <a:cs typeface="Trebuchet MS"/>
                <a:sym typeface="Trebuchet MS"/>
              </a:rPr>
              <a:t>Refined fuels absorb the lion's share — aviation and naphtha lead the way</a:t>
            </a:r>
            <a:endParaRPr b="0" i="0" sz="1650" u="none" cap="none" strike="noStrike">
              <a:solidFill>
                <a:schemeClr val="dk1"/>
              </a:solidFill>
              <a:latin typeface="Calibri"/>
              <a:ea typeface="Calibri"/>
              <a:cs typeface="Calibri"/>
              <a:sym typeface="Calibri"/>
            </a:endParaRPr>
          </a:p>
        </p:txBody>
      </p:sp>
      <p:graphicFrame>
        <p:nvGraphicFramePr>
          <p:cNvPr id="167" name="Google Shape;167;p6"/>
          <p:cNvGraphicFramePr/>
          <p:nvPr/>
        </p:nvGraphicFramePr>
        <p:xfrm>
          <a:off x="292608" y="1005840"/>
          <a:ext cx="5577840" cy="3520440"/>
        </p:xfrm>
        <a:graphic>
          <a:graphicData uri="http://schemas.openxmlformats.org/drawingml/2006/chart">
            <c:chart r:id="rId3"/>
          </a:graphicData>
        </a:graphic>
      </p:graphicFrame>
      <p:sp>
        <p:nvSpPr>
          <p:cNvPr id="168" name="Google Shape;168;p6"/>
          <p:cNvSpPr/>
          <p:nvPr/>
        </p:nvSpPr>
        <p:spPr>
          <a:xfrm>
            <a:off x="6035040" y="1005840"/>
            <a:ext cx="2880360" cy="3749040"/>
          </a:xfrm>
          <a:prstGeom prst="rect">
            <a:avLst/>
          </a:prstGeom>
          <a:solidFill>
            <a:srgbClr val="0A1628"/>
          </a:solidFill>
          <a:ln cap="flat" cmpd="sng" w="12700">
            <a:solidFill>
              <a:srgbClr val="0A162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6035040" y="1005840"/>
            <a:ext cx="288036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6172200" y="1097280"/>
            <a:ext cx="2606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KEY TAKEAWAYS</a:t>
            </a:r>
            <a:endParaRPr b="0" i="0" sz="800" u="none" cap="none" strike="noStrike">
              <a:solidFill>
                <a:schemeClr val="dk1"/>
              </a:solidFill>
              <a:latin typeface="Calibri"/>
              <a:ea typeface="Calibri"/>
              <a:cs typeface="Calibri"/>
              <a:sym typeface="Calibri"/>
            </a:endParaRPr>
          </a:p>
        </p:txBody>
      </p:sp>
      <p:cxnSp>
        <p:nvCxnSpPr>
          <p:cNvPr id="171" name="Google Shape;171;p6"/>
          <p:cNvCxnSpPr/>
          <p:nvPr/>
        </p:nvCxnSpPr>
        <p:spPr>
          <a:xfrm>
            <a:off x="6172200" y="1371600"/>
            <a:ext cx="2606040" cy="0"/>
          </a:xfrm>
          <a:prstGeom prst="straightConnector1">
            <a:avLst/>
          </a:prstGeom>
          <a:noFill/>
          <a:ln cap="flat" cmpd="sng" w="9525">
            <a:solidFill>
              <a:srgbClr val="0D6E6E"/>
            </a:solidFill>
            <a:prstDash val="solid"/>
            <a:round/>
            <a:headEnd len="sm" w="sm" type="none"/>
            <a:tailEnd len="sm" w="sm" type="none"/>
          </a:ln>
        </p:spPr>
      </p:cxnSp>
      <p:sp>
        <p:nvSpPr>
          <p:cNvPr id="172" name="Google Shape;172;p6"/>
          <p:cNvSpPr/>
          <p:nvPr/>
        </p:nvSpPr>
        <p:spPr>
          <a:xfrm>
            <a:off x="6163056" y="1527048"/>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6163056" y="1527048"/>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1</a:t>
            </a:r>
            <a:endParaRPr b="0" i="0" sz="750" u="none" cap="none" strike="noStrike">
              <a:solidFill>
                <a:schemeClr val="dk1"/>
              </a:solidFill>
              <a:latin typeface="Calibri"/>
              <a:ea typeface="Calibri"/>
              <a:cs typeface="Calibri"/>
              <a:sym typeface="Calibri"/>
            </a:endParaRPr>
          </a:p>
        </p:txBody>
      </p:sp>
      <p:sp>
        <p:nvSpPr>
          <p:cNvPr id="174" name="Google Shape;174;p6"/>
          <p:cNvSpPr/>
          <p:nvPr/>
        </p:nvSpPr>
        <p:spPr>
          <a:xfrm>
            <a:off x="6492240" y="1517904"/>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Refined Fuels command ₺130B — more than Oil, Coal, and Natural Gas combined</a:t>
            </a:r>
            <a:endParaRPr b="0" i="0" sz="950" u="none" cap="none" strike="noStrike">
              <a:solidFill>
                <a:schemeClr val="dk1"/>
              </a:solidFill>
              <a:latin typeface="Calibri"/>
              <a:ea typeface="Calibri"/>
              <a:cs typeface="Calibri"/>
              <a:sym typeface="Calibri"/>
            </a:endParaRPr>
          </a:p>
        </p:txBody>
      </p:sp>
      <p:sp>
        <p:nvSpPr>
          <p:cNvPr id="175" name="Google Shape;175;p6"/>
          <p:cNvSpPr/>
          <p:nvPr/>
        </p:nvSpPr>
        <p:spPr>
          <a:xfrm>
            <a:off x="6163056" y="2551176"/>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6163056" y="2551176"/>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2</a:t>
            </a:r>
            <a:endParaRPr b="0" i="0" sz="750" u="none" cap="none" strike="noStrike">
              <a:solidFill>
                <a:schemeClr val="dk1"/>
              </a:solidFill>
              <a:latin typeface="Calibri"/>
              <a:ea typeface="Calibri"/>
              <a:cs typeface="Calibri"/>
              <a:sym typeface="Calibri"/>
            </a:endParaRPr>
          </a:p>
        </p:txBody>
      </p:sp>
      <p:sp>
        <p:nvSpPr>
          <p:cNvPr id="177" name="Google Shape;177;p6"/>
          <p:cNvSpPr/>
          <p:nvPr/>
        </p:nvSpPr>
        <p:spPr>
          <a:xfrm>
            <a:off x="6492240" y="2542032"/>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Policy attention is concentrated on transport and industrial supply chains, not household energy</a:t>
            </a:r>
            <a:endParaRPr b="0" i="0" sz="950" u="none" cap="none" strike="noStrike">
              <a:solidFill>
                <a:schemeClr val="dk1"/>
              </a:solidFill>
              <a:latin typeface="Calibri"/>
              <a:ea typeface="Calibri"/>
              <a:cs typeface="Calibri"/>
              <a:sym typeface="Calibri"/>
            </a:endParaRPr>
          </a:p>
        </p:txBody>
      </p:sp>
      <p:sp>
        <p:nvSpPr>
          <p:cNvPr id="178" name="Google Shape;178;p6"/>
          <p:cNvSpPr/>
          <p:nvPr/>
        </p:nvSpPr>
        <p:spPr>
          <a:xfrm>
            <a:off x="6163056" y="3575304"/>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6163056" y="3575304"/>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3</a:t>
            </a:r>
            <a:endParaRPr b="0" i="0" sz="750" u="none" cap="none" strike="noStrike">
              <a:solidFill>
                <a:schemeClr val="dk1"/>
              </a:solidFill>
              <a:latin typeface="Calibri"/>
              <a:ea typeface="Calibri"/>
              <a:cs typeface="Calibri"/>
              <a:sym typeface="Calibri"/>
            </a:endParaRPr>
          </a:p>
        </p:txBody>
      </p:sp>
      <p:sp>
        <p:nvSpPr>
          <p:cNvPr id="180" name="Google Shape;180;p6"/>
          <p:cNvSpPr/>
          <p:nvPr/>
        </p:nvSpPr>
        <p:spPr>
          <a:xfrm>
            <a:off x="6492240" y="3566160"/>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General Fossil Fuel Support at ₺18B represents cross-cutting instruments that don't fit a single fuel category</a:t>
            </a:r>
            <a:endParaRPr b="0" i="0" sz="950" u="none" cap="none" strike="noStrike">
              <a:solidFill>
                <a:schemeClr val="dk1"/>
              </a:solidFill>
              <a:latin typeface="Calibri"/>
              <a:ea typeface="Calibri"/>
              <a:cs typeface="Calibri"/>
              <a:sym typeface="Calibri"/>
            </a:endParaRPr>
          </a:p>
        </p:txBody>
      </p:sp>
      <p:sp>
        <p:nvSpPr>
          <p:cNvPr id="181" name="Google Shape;181;p6"/>
          <p:cNvSpPr/>
          <p:nvPr/>
        </p:nvSpPr>
        <p:spPr>
          <a:xfrm>
            <a:off x="292608" y="4754880"/>
            <a:ext cx="5577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680"/>
              <a:buFont typeface="Trebuchet MS"/>
              <a:buNone/>
            </a:pPr>
            <a:r>
              <a:rPr b="0" i="1" lang="en-US" sz="680" u="none" cap="none" strike="noStrike">
                <a:solidFill>
                  <a:srgbClr val="64748B"/>
                </a:solidFill>
                <a:latin typeface="Trebuchet MS"/>
                <a:ea typeface="Trebuchet MS"/>
                <a:cs typeface="Trebuchet MS"/>
                <a:sym typeface="Trebuchet MS"/>
              </a:rPr>
              <a:t>Data: Türkiye Fossil Fuel Support Database 2020–2023 · All monetary values expressed in Real 2023 TRY</a:t>
            </a:r>
            <a:endParaRPr b="0" i="0" sz="68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186" name="Shape 186"/>
        <p:cNvGrpSpPr/>
        <p:nvPr/>
      </p:nvGrpSpPr>
      <p:grpSpPr>
        <a:xfrm>
          <a:off x="0" y="0"/>
          <a:ext cx="0" cy="0"/>
          <a:chOff x="0" y="0"/>
          <a:chExt cx="0" cy="0"/>
        </a:xfrm>
      </p:grpSpPr>
      <p:sp>
        <p:nvSpPr>
          <p:cNvPr id="187" name="Google Shape;187;p7"/>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FINDING  3</a:t>
            </a:r>
            <a:endParaRPr b="0" i="0" sz="750" u="none" cap="none" strike="noStrike">
              <a:solidFill>
                <a:schemeClr val="dk1"/>
              </a:solidFill>
              <a:latin typeface="Calibri"/>
              <a:ea typeface="Calibri"/>
              <a:cs typeface="Calibri"/>
              <a:sym typeface="Calibri"/>
            </a:endParaRPr>
          </a:p>
        </p:txBody>
      </p:sp>
      <p:sp>
        <p:nvSpPr>
          <p:cNvPr id="191" name="Google Shape;191;p7"/>
          <p:cNvSpPr/>
          <p:nvPr/>
        </p:nvSpPr>
        <p:spPr>
          <a:xfrm>
            <a:off x="274320" y="475488"/>
            <a:ext cx="5486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50"/>
              <a:buFont typeface="Trebuchet MS"/>
              <a:buNone/>
            </a:pPr>
            <a:r>
              <a:rPr b="1" i="0" lang="en-US" sz="1650" u="none" cap="none" strike="noStrike">
                <a:solidFill>
                  <a:srgbClr val="1E293B"/>
                </a:solidFill>
                <a:latin typeface="Trebuchet MS"/>
                <a:ea typeface="Trebuchet MS"/>
                <a:cs typeface="Trebuchet MS"/>
                <a:sym typeface="Trebuchet MS"/>
              </a:rPr>
              <a:t>Every fuel category lost real value — Oil's 2022 spike was war, not policy</a:t>
            </a:r>
            <a:endParaRPr b="0" i="0" sz="1650" u="none" cap="none" strike="noStrike">
              <a:solidFill>
                <a:schemeClr val="dk1"/>
              </a:solidFill>
              <a:latin typeface="Calibri"/>
              <a:ea typeface="Calibri"/>
              <a:cs typeface="Calibri"/>
              <a:sym typeface="Calibri"/>
            </a:endParaRPr>
          </a:p>
        </p:txBody>
      </p:sp>
      <p:graphicFrame>
        <p:nvGraphicFramePr>
          <p:cNvPr id="192" name="Google Shape;192;p7"/>
          <p:cNvGraphicFramePr/>
          <p:nvPr/>
        </p:nvGraphicFramePr>
        <p:xfrm>
          <a:off x="292608" y="1005840"/>
          <a:ext cx="5577840" cy="3520440"/>
        </p:xfrm>
        <a:graphic>
          <a:graphicData uri="http://schemas.openxmlformats.org/drawingml/2006/chart">
            <c:chart r:id="rId3"/>
          </a:graphicData>
        </a:graphic>
      </p:graphicFrame>
      <p:sp>
        <p:nvSpPr>
          <p:cNvPr id="193" name="Google Shape;193;p7"/>
          <p:cNvSpPr/>
          <p:nvPr/>
        </p:nvSpPr>
        <p:spPr>
          <a:xfrm>
            <a:off x="6035040" y="1005840"/>
            <a:ext cx="2880360" cy="3749040"/>
          </a:xfrm>
          <a:prstGeom prst="rect">
            <a:avLst/>
          </a:prstGeom>
          <a:solidFill>
            <a:srgbClr val="0A1628"/>
          </a:solidFill>
          <a:ln cap="flat" cmpd="sng" w="12700">
            <a:solidFill>
              <a:srgbClr val="0A162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6035040" y="1005840"/>
            <a:ext cx="288036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6172200" y="1097280"/>
            <a:ext cx="2606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KEY TAKEAWAYS</a:t>
            </a:r>
            <a:endParaRPr b="0" i="0" sz="800" u="none" cap="none" strike="noStrike">
              <a:solidFill>
                <a:schemeClr val="dk1"/>
              </a:solidFill>
              <a:latin typeface="Calibri"/>
              <a:ea typeface="Calibri"/>
              <a:cs typeface="Calibri"/>
              <a:sym typeface="Calibri"/>
            </a:endParaRPr>
          </a:p>
        </p:txBody>
      </p:sp>
      <p:cxnSp>
        <p:nvCxnSpPr>
          <p:cNvPr id="196" name="Google Shape;196;p7"/>
          <p:cNvCxnSpPr/>
          <p:nvPr/>
        </p:nvCxnSpPr>
        <p:spPr>
          <a:xfrm>
            <a:off x="6172200" y="1371600"/>
            <a:ext cx="2606040" cy="0"/>
          </a:xfrm>
          <a:prstGeom prst="straightConnector1">
            <a:avLst/>
          </a:prstGeom>
          <a:noFill/>
          <a:ln cap="flat" cmpd="sng" w="9525">
            <a:solidFill>
              <a:srgbClr val="0D6E6E"/>
            </a:solidFill>
            <a:prstDash val="solid"/>
            <a:round/>
            <a:headEnd len="sm" w="sm" type="none"/>
            <a:tailEnd len="sm" w="sm" type="none"/>
          </a:ln>
        </p:spPr>
      </p:cxnSp>
      <p:sp>
        <p:nvSpPr>
          <p:cNvPr id="197" name="Google Shape;197;p7"/>
          <p:cNvSpPr/>
          <p:nvPr/>
        </p:nvSpPr>
        <p:spPr>
          <a:xfrm>
            <a:off x="6163056" y="1527048"/>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6163056" y="1527048"/>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1</a:t>
            </a:r>
            <a:endParaRPr b="0" i="0" sz="750" u="none" cap="none" strike="noStrike">
              <a:solidFill>
                <a:schemeClr val="dk1"/>
              </a:solidFill>
              <a:latin typeface="Calibri"/>
              <a:ea typeface="Calibri"/>
              <a:cs typeface="Calibri"/>
              <a:sym typeface="Calibri"/>
            </a:endParaRPr>
          </a:p>
        </p:txBody>
      </p:sp>
      <p:sp>
        <p:nvSpPr>
          <p:cNvPr id="199" name="Google Shape;199;p7"/>
          <p:cNvSpPr/>
          <p:nvPr/>
        </p:nvSpPr>
        <p:spPr>
          <a:xfrm>
            <a:off x="6492240" y="1517904"/>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Refined Fuel real support fell in every single year — a steady, unbroken erosion from ₺47.8B to ₺19.7B</a:t>
            </a:r>
            <a:endParaRPr b="0" i="0" sz="950" u="none" cap="none" strike="noStrike">
              <a:solidFill>
                <a:schemeClr val="dk1"/>
              </a:solidFill>
              <a:latin typeface="Calibri"/>
              <a:ea typeface="Calibri"/>
              <a:cs typeface="Calibri"/>
              <a:sym typeface="Calibri"/>
            </a:endParaRPr>
          </a:p>
        </p:txBody>
      </p:sp>
      <p:sp>
        <p:nvSpPr>
          <p:cNvPr id="200" name="Google Shape;200;p7"/>
          <p:cNvSpPr/>
          <p:nvPr/>
        </p:nvSpPr>
        <p:spPr>
          <a:xfrm>
            <a:off x="6163056" y="2551176"/>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6163056" y="2551176"/>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2</a:t>
            </a:r>
            <a:endParaRPr b="0" i="0" sz="750" u="none" cap="none" strike="noStrike">
              <a:solidFill>
                <a:schemeClr val="dk1"/>
              </a:solidFill>
              <a:latin typeface="Calibri"/>
              <a:ea typeface="Calibri"/>
              <a:cs typeface="Calibri"/>
              <a:sym typeface="Calibri"/>
            </a:endParaRPr>
          </a:p>
        </p:txBody>
      </p:sp>
      <p:sp>
        <p:nvSpPr>
          <p:cNvPr id="202" name="Google Shape;202;p7"/>
          <p:cNvSpPr/>
          <p:nvPr/>
        </p:nvSpPr>
        <p:spPr>
          <a:xfrm>
            <a:off x="6492240" y="2542032"/>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Oil's sharp 2022 surge from ₺12.8B to ₺21.3B directly mirrors the Ukraine war energy shock, not a deliberate policy expansion</a:t>
            </a:r>
            <a:endParaRPr b="0" i="0" sz="950" u="none" cap="none" strike="noStrike">
              <a:solidFill>
                <a:schemeClr val="dk1"/>
              </a:solidFill>
              <a:latin typeface="Calibri"/>
              <a:ea typeface="Calibri"/>
              <a:cs typeface="Calibri"/>
              <a:sym typeface="Calibri"/>
            </a:endParaRPr>
          </a:p>
        </p:txBody>
      </p:sp>
      <p:sp>
        <p:nvSpPr>
          <p:cNvPr id="203" name="Google Shape;203;p7"/>
          <p:cNvSpPr/>
          <p:nvPr/>
        </p:nvSpPr>
        <p:spPr>
          <a:xfrm>
            <a:off x="6163056" y="3575304"/>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6163056" y="3575304"/>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3</a:t>
            </a:r>
            <a:endParaRPr b="0" i="0" sz="750" u="none" cap="none" strike="noStrike">
              <a:solidFill>
                <a:schemeClr val="dk1"/>
              </a:solidFill>
              <a:latin typeface="Calibri"/>
              <a:ea typeface="Calibri"/>
              <a:cs typeface="Calibri"/>
              <a:sym typeface="Calibri"/>
            </a:endParaRPr>
          </a:p>
        </p:txBody>
      </p:sp>
      <p:sp>
        <p:nvSpPr>
          <p:cNvPr id="205" name="Google Shape;205;p7"/>
          <p:cNvSpPr/>
          <p:nvPr/>
        </p:nvSpPr>
        <p:spPr>
          <a:xfrm>
            <a:off x="6492240" y="3566160"/>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Coal dropped 72% in real terms across the period — the most significant sector decline in the dataset</a:t>
            </a:r>
            <a:endParaRPr b="0" i="0" sz="950" u="none" cap="none" strike="noStrike">
              <a:solidFill>
                <a:schemeClr val="dk1"/>
              </a:solidFill>
              <a:latin typeface="Calibri"/>
              <a:ea typeface="Calibri"/>
              <a:cs typeface="Calibri"/>
              <a:sym typeface="Calibri"/>
            </a:endParaRPr>
          </a:p>
        </p:txBody>
      </p:sp>
      <p:sp>
        <p:nvSpPr>
          <p:cNvPr id="206" name="Google Shape;206;p7"/>
          <p:cNvSpPr/>
          <p:nvPr/>
        </p:nvSpPr>
        <p:spPr>
          <a:xfrm>
            <a:off x="292608" y="4754880"/>
            <a:ext cx="5577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680"/>
              <a:buFont typeface="Trebuchet MS"/>
              <a:buNone/>
            </a:pPr>
            <a:r>
              <a:rPr b="0" i="1" lang="en-US" sz="680" u="none" cap="none" strike="noStrike">
                <a:solidFill>
                  <a:srgbClr val="64748B"/>
                </a:solidFill>
                <a:latin typeface="Trebuchet MS"/>
                <a:ea typeface="Trebuchet MS"/>
                <a:cs typeface="Trebuchet MS"/>
                <a:sym typeface="Trebuchet MS"/>
              </a:rPr>
              <a:t>Next: the specific programmes that drove these movements   |   Data: Türkiye Fossil Fuel Support Database 2020–2023 · Values in Real 2023 TRY</a:t>
            </a:r>
            <a:endParaRPr b="0" i="0" sz="68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211" name="Shape 211"/>
        <p:cNvGrpSpPr/>
        <p:nvPr/>
      </p:nvGrpSpPr>
      <p:grpSpPr>
        <a:xfrm>
          <a:off x="0" y="0"/>
          <a:ext cx="0" cy="0"/>
          <a:chOff x="0" y="0"/>
          <a:chExt cx="0" cy="0"/>
        </a:xfrm>
      </p:grpSpPr>
      <p:sp>
        <p:nvSpPr>
          <p:cNvPr id="212" name="Google Shape;212;p8"/>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FINDING  4</a:t>
            </a:r>
            <a:endParaRPr b="0" i="0" sz="750" u="none" cap="none" strike="noStrike">
              <a:solidFill>
                <a:schemeClr val="dk1"/>
              </a:solidFill>
              <a:latin typeface="Calibri"/>
              <a:ea typeface="Calibri"/>
              <a:cs typeface="Calibri"/>
              <a:sym typeface="Calibri"/>
            </a:endParaRPr>
          </a:p>
        </p:txBody>
      </p:sp>
      <p:sp>
        <p:nvSpPr>
          <p:cNvPr id="216" name="Google Shape;216;p8"/>
          <p:cNvSpPr/>
          <p:nvPr/>
        </p:nvSpPr>
        <p:spPr>
          <a:xfrm>
            <a:off x="274320" y="475488"/>
            <a:ext cx="5486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50"/>
              <a:buFont typeface="Trebuchet MS"/>
              <a:buNone/>
            </a:pPr>
            <a:r>
              <a:rPr b="1" i="0" lang="en-US" sz="1650" u="none" cap="none" strike="noStrike">
                <a:solidFill>
                  <a:srgbClr val="1E293B"/>
                </a:solidFill>
                <a:latin typeface="Trebuchet MS"/>
                <a:ea typeface="Trebuchet MS"/>
                <a:cs typeface="Trebuchet MS"/>
                <a:sym typeface="Trebuchet MS"/>
              </a:rPr>
              <a:t>Naphtha quietly shrank; one exemption code exploded when Ukraine war hit</a:t>
            </a:r>
            <a:endParaRPr b="0" i="0" sz="1650" u="none" cap="none" strike="noStrike">
              <a:solidFill>
                <a:schemeClr val="dk1"/>
              </a:solidFill>
              <a:latin typeface="Calibri"/>
              <a:ea typeface="Calibri"/>
              <a:cs typeface="Calibri"/>
              <a:sym typeface="Calibri"/>
            </a:endParaRPr>
          </a:p>
        </p:txBody>
      </p:sp>
      <p:graphicFrame>
        <p:nvGraphicFramePr>
          <p:cNvPr id="217" name="Google Shape;217;p8"/>
          <p:cNvGraphicFramePr/>
          <p:nvPr/>
        </p:nvGraphicFramePr>
        <p:xfrm>
          <a:off x="292608" y="1005840"/>
          <a:ext cx="5577840" cy="3520440"/>
        </p:xfrm>
        <a:graphic>
          <a:graphicData uri="http://schemas.openxmlformats.org/drawingml/2006/chart">
            <c:chart r:id="rId3"/>
          </a:graphicData>
        </a:graphic>
      </p:graphicFrame>
      <p:sp>
        <p:nvSpPr>
          <p:cNvPr id="218" name="Google Shape;218;p8"/>
          <p:cNvSpPr/>
          <p:nvPr/>
        </p:nvSpPr>
        <p:spPr>
          <a:xfrm>
            <a:off x="6035040" y="1005840"/>
            <a:ext cx="2880360" cy="3749040"/>
          </a:xfrm>
          <a:prstGeom prst="rect">
            <a:avLst/>
          </a:prstGeom>
          <a:solidFill>
            <a:srgbClr val="0A1628"/>
          </a:solidFill>
          <a:ln cap="flat" cmpd="sng" w="12700">
            <a:solidFill>
              <a:srgbClr val="0A162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6035040" y="1005840"/>
            <a:ext cx="288036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6172200" y="1097280"/>
            <a:ext cx="2606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KEY TAKEAWAYS</a:t>
            </a:r>
            <a:endParaRPr b="0" i="0" sz="800" u="none" cap="none" strike="noStrike">
              <a:solidFill>
                <a:schemeClr val="dk1"/>
              </a:solidFill>
              <a:latin typeface="Calibri"/>
              <a:ea typeface="Calibri"/>
              <a:cs typeface="Calibri"/>
              <a:sym typeface="Calibri"/>
            </a:endParaRPr>
          </a:p>
        </p:txBody>
      </p:sp>
      <p:cxnSp>
        <p:nvCxnSpPr>
          <p:cNvPr id="221" name="Google Shape;221;p8"/>
          <p:cNvCxnSpPr/>
          <p:nvPr/>
        </p:nvCxnSpPr>
        <p:spPr>
          <a:xfrm>
            <a:off x="6172200" y="1371600"/>
            <a:ext cx="2606040" cy="0"/>
          </a:xfrm>
          <a:prstGeom prst="straightConnector1">
            <a:avLst/>
          </a:prstGeom>
          <a:noFill/>
          <a:ln cap="flat" cmpd="sng" w="9525">
            <a:solidFill>
              <a:srgbClr val="0D6E6E"/>
            </a:solidFill>
            <a:prstDash val="solid"/>
            <a:round/>
            <a:headEnd len="sm" w="sm" type="none"/>
            <a:tailEnd len="sm" w="sm" type="none"/>
          </a:ln>
        </p:spPr>
      </p:cxnSp>
      <p:sp>
        <p:nvSpPr>
          <p:cNvPr id="222" name="Google Shape;222;p8"/>
          <p:cNvSpPr/>
          <p:nvPr/>
        </p:nvSpPr>
        <p:spPr>
          <a:xfrm>
            <a:off x="6163056" y="1527048"/>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6163056" y="1527048"/>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1</a:t>
            </a:r>
            <a:endParaRPr b="0" i="0" sz="750" u="none" cap="none" strike="noStrike">
              <a:solidFill>
                <a:schemeClr val="dk1"/>
              </a:solidFill>
              <a:latin typeface="Calibri"/>
              <a:ea typeface="Calibri"/>
              <a:cs typeface="Calibri"/>
              <a:sym typeface="Calibri"/>
            </a:endParaRPr>
          </a:p>
        </p:txBody>
      </p:sp>
      <p:sp>
        <p:nvSpPr>
          <p:cNvPr id="224" name="Google Shape;224;p8"/>
          <p:cNvSpPr/>
          <p:nvPr/>
        </p:nvSpPr>
        <p:spPr>
          <a:xfrm>
            <a:off x="6492240" y="1517904"/>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TE_12 (Naphtha &amp; Petroleum Coke) was the budget's dominant programme but steadily lost real value from ₺26.7B to ₺8.4B</a:t>
            </a:r>
            <a:endParaRPr b="0" i="0" sz="950" u="none" cap="none" strike="noStrike">
              <a:solidFill>
                <a:schemeClr val="dk1"/>
              </a:solidFill>
              <a:latin typeface="Calibri"/>
              <a:ea typeface="Calibri"/>
              <a:cs typeface="Calibri"/>
              <a:sym typeface="Calibri"/>
            </a:endParaRPr>
          </a:p>
        </p:txBody>
      </p:sp>
      <p:sp>
        <p:nvSpPr>
          <p:cNvPr id="225" name="Google Shape;225;p8"/>
          <p:cNvSpPr/>
          <p:nvPr/>
        </p:nvSpPr>
        <p:spPr>
          <a:xfrm>
            <a:off x="6163056" y="2551176"/>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6163056" y="2551176"/>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2</a:t>
            </a:r>
            <a:endParaRPr b="0" i="0" sz="750" u="none" cap="none" strike="noStrike">
              <a:solidFill>
                <a:schemeClr val="dk1"/>
              </a:solidFill>
              <a:latin typeface="Calibri"/>
              <a:ea typeface="Calibri"/>
              <a:cs typeface="Calibri"/>
              <a:sym typeface="Calibri"/>
            </a:endParaRPr>
          </a:p>
        </p:txBody>
      </p:sp>
      <p:sp>
        <p:nvSpPr>
          <p:cNvPr id="227" name="Google Shape;227;p8"/>
          <p:cNvSpPr/>
          <p:nvPr/>
        </p:nvSpPr>
        <p:spPr>
          <a:xfrm>
            <a:off x="6492240" y="2542032"/>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TE_04 (Oil &amp; Gas Exploration) was barely visible until 2022 — then multiplied 4.5× in a single year due to the energy security response</a:t>
            </a:r>
            <a:endParaRPr b="0" i="0" sz="950" u="none" cap="none" strike="noStrike">
              <a:solidFill>
                <a:schemeClr val="dk1"/>
              </a:solidFill>
              <a:latin typeface="Calibri"/>
              <a:ea typeface="Calibri"/>
              <a:cs typeface="Calibri"/>
              <a:sym typeface="Calibri"/>
            </a:endParaRPr>
          </a:p>
        </p:txBody>
      </p:sp>
      <p:sp>
        <p:nvSpPr>
          <p:cNvPr id="228" name="Google Shape;228;p8"/>
          <p:cNvSpPr/>
          <p:nvPr/>
        </p:nvSpPr>
        <p:spPr>
          <a:xfrm>
            <a:off x="6163056" y="3575304"/>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6163056" y="3575304"/>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3</a:t>
            </a:r>
            <a:endParaRPr b="0" i="0" sz="750" u="none" cap="none" strike="noStrike">
              <a:solidFill>
                <a:schemeClr val="dk1"/>
              </a:solidFill>
              <a:latin typeface="Calibri"/>
              <a:ea typeface="Calibri"/>
              <a:cs typeface="Calibri"/>
              <a:sym typeface="Calibri"/>
            </a:endParaRPr>
          </a:p>
        </p:txBody>
      </p:sp>
      <p:sp>
        <p:nvSpPr>
          <p:cNvPr id="230" name="Google Shape;230;p8"/>
          <p:cNvSpPr/>
          <p:nvPr/>
        </p:nvSpPr>
        <p:spPr>
          <a:xfrm>
            <a:off x="6492240" y="3566160"/>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Global events — not domestic policy design — have been the true architects of Türkiye's subsidy spending patterns</a:t>
            </a:r>
            <a:endParaRPr b="0" i="0" sz="950" u="none" cap="none" strike="noStrike">
              <a:solidFill>
                <a:schemeClr val="dk1"/>
              </a:solidFill>
              <a:latin typeface="Calibri"/>
              <a:ea typeface="Calibri"/>
              <a:cs typeface="Calibri"/>
              <a:sym typeface="Calibri"/>
            </a:endParaRPr>
          </a:p>
        </p:txBody>
      </p:sp>
      <p:sp>
        <p:nvSpPr>
          <p:cNvPr id="231" name="Google Shape;231;p8"/>
          <p:cNvSpPr/>
          <p:nvPr/>
        </p:nvSpPr>
        <p:spPr>
          <a:xfrm>
            <a:off x="292608" y="4754880"/>
            <a:ext cx="5577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680"/>
              <a:buFont typeface="Trebuchet MS"/>
              <a:buNone/>
            </a:pPr>
            <a:r>
              <a:rPr b="0" i="1" lang="en-US" sz="680" u="none" cap="none" strike="noStrike">
                <a:solidFill>
                  <a:srgbClr val="64748B"/>
                </a:solidFill>
                <a:latin typeface="Trebuchet MS"/>
                <a:ea typeface="Trebuchet MS"/>
                <a:cs typeface="Trebuchet MS"/>
                <a:sym typeface="Trebuchet MS"/>
              </a:rPr>
              <a:t>Programme-level movements explain the fuel-category trends in the previous slide   |   Data: Türkiye Fossil Fuel Support Database 2020–2023 · Values in Real 2023 TRY</a:t>
            </a:r>
            <a:endParaRPr b="0" i="0" sz="68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236" name="Shape 236"/>
        <p:cNvGrpSpPr/>
        <p:nvPr/>
      </p:nvGrpSpPr>
      <p:grpSpPr>
        <a:xfrm>
          <a:off x="0" y="0"/>
          <a:ext cx="0" cy="0"/>
          <a:chOff x="0" y="0"/>
          <a:chExt cx="0" cy="0"/>
        </a:xfrm>
      </p:grpSpPr>
      <p:sp>
        <p:nvSpPr>
          <p:cNvPr id="237" name="Google Shape;237;p9"/>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FINDING  5</a:t>
            </a:r>
            <a:endParaRPr b="0" i="0" sz="750" u="none" cap="none" strike="noStrike">
              <a:solidFill>
                <a:schemeClr val="dk1"/>
              </a:solidFill>
              <a:latin typeface="Calibri"/>
              <a:ea typeface="Calibri"/>
              <a:cs typeface="Calibri"/>
              <a:sym typeface="Calibri"/>
            </a:endParaRPr>
          </a:p>
        </p:txBody>
      </p:sp>
      <p:sp>
        <p:nvSpPr>
          <p:cNvPr id="241" name="Google Shape;241;p9"/>
          <p:cNvSpPr/>
          <p:nvPr/>
        </p:nvSpPr>
        <p:spPr>
          <a:xfrm>
            <a:off x="274320" y="475488"/>
            <a:ext cx="5486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50"/>
              <a:buFont typeface="Trebuchet MS"/>
              <a:buNone/>
            </a:pPr>
            <a:r>
              <a:rPr b="1" i="0" lang="en-US" sz="1650" u="none" cap="none" strike="noStrike">
                <a:solidFill>
                  <a:srgbClr val="1E293B"/>
                </a:solidFill>
                <a:latin typeface="Trebuchet MS"/>
                <a:ea typeface="Trebuchet MS"/>
                <a:cs typeface="Trebuchet MS"/>
                <a:sym typeface="Trebuchet MS"/>
              </a:rPr>
              <a:t>Three-quarters of all support never appears as a budget outlay</a:t>
            </a:r>
            <a:endParaRPr b="0" i="0" sz="1650" u="none" cap="none" strike="noStrike">
              <a:solidFill>
                <a:schemeClr val="dk1"/>
              </a:solidFill>
              <a:latin typeface="Calibri"/>
              <a:ea typeface="Calibri"/>
              <a:cs typeface="Calibri"/>
              <a:sym typeface="Calibri"/>
            </a:endParaRPr>
          </a:p>
        </p:txBody>
      </p:sp>
      <p:graphicFrame>
        <p:nvGraphicFramePr>
          <p:cNvPr id="242" name="Google Shape;242;p9"/>
          <p:cNvGraphicFramePr/>
          <p:nvPr/>
        </p:nvGraphicFramePr>
        <p:xfrm>
          <a:off x="457200" y="1005840"/>
          <a:ext cx="5212080" cy="3520440"/>
        </p:xfrm>
        <a:graphic>
          <a:graphicData uri="http://schemas.openxmlformats.org/drawingml/2006/chart">
            <c:chart r:id="rId3"/>
          </a:graphicData>
        </a:graphic>
      </p:graphicFrame>
      <p:sp>
        <p:nvSpPr>
          <p:cNvPr id="243" name="Google Shape;243;p9"/>
          <p:cNvSpPr/>
          <p:nvPr/>
        </p:nvSpPr>
        <p:spPr>
          <a:xfrm>
            <a:off x="1463040" y="2377440"/>
            <a:ext cx="265176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9E6E"/>
              </a:buClr>
              <a:buSzPts val="3000"/>
              <a:buFont typeface="Trebuchet MS"/>
              <a:buNone/>
            </a:pPr>
            <a:r>
              <a:rPr b="1" i="0" lang="en-US" sz="3000" u="none" cap="none" strike="noStrike">
                <a:solidFill>
                  <a:srgbClr val="1A9E6E"/>
                </a:solidFill>
                <a:latin typeface="Trebuchet MS"/>
                <a:ea typeface="Trebuchet MS"/>
                <a:cs typeface="Trebuchet MS"/>
                <a:sym typeface="Trebuchet MS"/>
              </a:rPr>
              <a:t>75%</a:t>
            </a:r>
            <a:endParaRPr b="0" i="0" sz="3000" u="none" cap="none" strike="noStrike">
              <a:solidFill>
                <a:schemeClr val="dk1"/>
              </a:solidFill>
              <a:latin typeface="Calibri"/>
              <a:ea typeface="Calibri"/>
              <a:cs typeface="Calibri"/>
              <a:sym typeface="Calibri"/>
            </a:endParaRPr>
          </a:p>
        </p:txBody>
      </p:sp>
      <p:sp>
        <p:nvSpPr>
          <p:cNvPr id="244" name="Google Shape;244;p9"/>
          <p:cNvSpPr/>
          <p:nvPr/>
        </p:nvSpPr>
        <p:spPr>
          <a:xfrm>
            <a:off x="1463040" y="2944368"/>
            <a:ext cx="26517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Trebuchet MS"/>
              <a:buNone/>
            </a:pPr>
            <a:r>
              <a:rPr b="0" i="0" lang="en-US" sz="1000" u="none" cap="none" strike="noStrike">
                <a:solidFill>
                  <a:srgbClr val="64748B"/>
                </a:solidFill>
                <a:latin typeface="Trebuchet MS"/>
                <a:ea typeface="Trebuchet MS"/>
                <a:cs typeface="Trebuchet MS"/>
                <a:sym typeface="Trebuchet MS"/>
              </a:rPr>
              <a:t>forgone taxes</a:t>
            </a:r>
            <a:endParaRPr b="0" i="0" sz="1000" u="none" cap="none" strike="noStrike">
              <a:solidFill>
                <a:schemeClr val="dk1"/>
              </a:solidFill>
              <a:latin typeface="Calibri"/>
              <a:ea typeface="Calibri"/>
              <a:cs typeface="Calibri"/>
              <a:sym typeface="Calibri"/>
            </a:endParaRPr>
          </a:p>
        </p:txBody>
      </p:sp>
      <p:sp>
        <p:nvSpPr>
          <p:cNvPr id="245" name="Google Shape;245;p9"/>
          <p:cNvSpPr/>
          <p:nvPr/>
        </p:nvSpPr>
        <p:spPr>
          <a:xfrm>
            <a:off x="6035040" y="1005840"/>
            <a:ext cx="2880360" cy="3749040"/>
          </a:xfrm>
          <a:prstGeom prst="rect">
            <a:avLst/>
          </a:prstGeom>
          <a:solidFill>
            <a:srgbClr val="0A1628"/>
          </a:solidFill>
          <a:ln cap="flat" cmpd="sng" w="12700">
            <a:solidFill>
              <a:srgbClr val="0A162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6035040" y="1005840"/>
            <a:ext cx="288036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6172200" y="1097280"/>
            <a:ext cx="2606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KEY TAKEAWAYS</a:t>
            </a:r>
            <a:endParaRPr b="0" i="0" sz="800" u="none" cap="none" strike="noStrike">
              <a:solidFill>
                <a:schemeClr val="dk1"/>
              </a:solidFill>
              <a:latin typeface="Calibri"/>
              <a:ea typeface="Calibri"/>
              <a:cs typeface="Calibri"/>
              <a:sym typeface="Calibri"/>
            </a:endParaRPr>
          </a:p>
        </p:txBody>
      </p:sp>
      <p:cxnSp>
        <p:nvCxnSpPr>
          <p:cNvPr id="248" name="Google Shape;248;p9"/>
          <p:cNvCxnSpPr/>
          <p:nvPr/>
        </p:nvCxnSpPr>
        <p:spPr>
          <a:xfrm>
            <a:off x="6172200" y="1371600"/>
            <a:ext cx="2606040" cy="0"/>
          </a:xfrm>
          <a:prstGeom prst="straightConnector1">
            <a:avLst/>
          </a:prstGeom>
          <a:noFill/>
          <a:ln cap="flat" cmpd="sng" w="9525">
            <a:solidFill>
              <a:srgbClr val="0D6E6E"/>
            </a:solidFill>
            <a:prstDash val="solid"/>
            <a:round/>
            <a:headEnd len="sm" w="sm" type="none"/>
            <a:tailEnd len="sm" w="sm" type="none"/>
          </a:ln>
        </p:spPr>
      </p:cxnSp>
      <p:sp>
        <p:nvSpPr>
          <p:cNvPr id="249" name="Google Shape;249;p9"/>
          <p:cNvSpPr/>
          <p:nvPr/>
        </p:nvSpPr>
        <p:spPr>
          <a:xfrm>
            <a:off x="6163056" y="1527048"/>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6163056" y="1527048"/>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1</a:t>
            </a:r>
            <a:endParaRPr b="0" i="0" sz="750" u="none" cap="none" strike="noStrike">
              <a:solidFill>
                <a:schemeClr val="dk1"/>
              </a:solidFill>
              <a:latin typeface="Calibri"/>
              <a:ea typeface="Calibri"/>
              <a:cs typeface="Calibri"/>
              <a:sym typeface="Calibri"/>
            </a:endParaRPr>
          </a:p>
        </p:txBody>
      </p:sp>
      <p:sp>
        <p:nvSpPr>
          <p:cNvPr id="251" name="Google Shape;251;p9"/>
          <p:cNvSpPr/>
          <p:nvPr/>
        </p:nvSpPr>
        <p:spPr>
          <a:xfrm>
            <a:off x="6492240" y="1517904"/>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Tax relief is the dominant delivery mechanism — the government withholds revenue rather than disbursing funds, making the support fiscally invisible</a:t>
            </a:r>
            <a:endParaRPr b="0" i="0" sz="950" u="none" cap="none" strike="noStrike">
              <a:solidFill>
                <a:schemeClr val="dk1"/>
              </a:solidFill>
              <a:latin typeface="Calibri"/>
              <a:ea typeface="Calibri"/>
              <a:cs typeface="Calibri"/>
              <a:sym typeface="Calibri"/>
            </a:endParaRPr>
          </a:p>
        </p:txBody>
      </p:sp>
      <p:sp>
        <p:nvSpPr>
          <p:cNvPr id="252" name="Google Shape;252;p9"/>
          <p:cNvSpPr/>
          <p:nvPr/>
        </p:nvSpPr>
        <p:spPr>
          <a:xfrm>
            <a:off x="6163056" y="2551176"/>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6163056" y="2551176"/>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2</a:t>
            </a:r>
            <a:endParaRPr b="0" i="0" sz="750" u="none" cap="none" strike="noStrike">
              <a:solidFill>
                <a:schemeClr val="dk1"/>
              </a:solidFill>
              <a:latin typeface="Calibri"/>
              <a:ea typeface="Calibri"/>
              <a:cs typeface="Calibri"/>
              <a:sym typeface="Calibri"/>
            </a:endParaRPr>
          </a:p>
        </p:txBody>
      </p:sp>
      <p:sp>
        <p:nvSpPr>
          <p:cNvPr id="254" name="Google Shape;254;p9"/>
          <p:cNvSpPr/>
          <p:nvPr/>
        </p:nvSpPr>
        <p:spPr>
          <a:xfrm>
            <a:off x="6492240" y="2542032"/>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This 'off-budget' approach is politically convenient but analytically opaque — it bypasses normal scrutiny of public expenditure</a:t>
            </a:r>
            <a:endParaRPr b="0" i="0" sz="950" u="none" cap="none" strike="noStrike">
              <a:solidFill>
                <a:schemeClr val="dk1"/>
              </a:solidFill>
              <a:latin typeface="Calibri"/>
              <a:ea typeface="Calibri"/>
              <a:cs typeface="Calibri"/>
              <a:sym typeface="Calibri"/>
            </a:endParaRPr>
          </a:p>
        </p:txBody>
      </p:sp>
      <p:sp>
        <p:nvSpPr>
          <p:cNvPr id="255" name="Google Shape;255;p9"/>
          <p:cNvSpPr/>
          <p:nvPr/>
        </p:nvSpPr>
        <p:spPr>
          <a:xfrm>
            <a:off x="6163056" y="3575304"/>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6163056" y="3575304"/>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3</a:t>
            </a:r>
            <a:endParaRPr b="0" i="0" sz="750" u="none" cap="none" strike="noStrike">
              <a:solidFill>
                <a:schemeClr val="dk1"/>
              </a:solidFill>
              <a:latin typeface="Calibri"/>
              <a:ea typeface="Calibri"/>
              <a:cs typeface="Calibri"/>
              <a:sym typeface="Calibri"/>
            </a:endParaRPr>
          </a:p>
        </p:txBody>
      </p:sp>
      <p:sp>
        <p:nvSpPr>
          <p:cNvPr id="257" name="Google Shape;257;p9"/>
          <p:cNvSpPr/>
          <p:nvPr/>
        </p:nvSpPr>
        <p:spPr>
          <a:xfrm>
            <a:off x="6492240" y="3566160"/>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Direct cash transfers represent only one lira in four, concentrated in coal and natural gas programmes for lower-income households</a:t>
            </a:r>
            <a:endParaRPr b="0" i="0" sz="950" u="none" cap="none" strike="noStrike">
              <a:solidFill>
                <a:schemeClr val="dk1"/>
              </a:solidFill>
              <a:latin typeface="Calibri"/>
              <a:ea typeface="Calibri"/>
              <a:cs typeface="Calibri"/>
              <a:sym typeface="Calibri"/>
            </a:endParaRPr>
          </a:p>
        </p:txBody>
      </p:sp>
      <p:sp>
        <p:nvSpPr>
          <p:cNvPr id="258" name="Google Shape;258;p9"/>
          <p:cNvSpPr/>
          <p:nvPr/>
        </p:nvSpPr>
        <p:spPr>
          <a:xfrm>
            <a:off x="292608" y="4754880"/>
            <a:ext cx="5577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680"/>
              <a:buFont typeface="Trebuchet MS"/>
              <a:buNone/>
            </a:pPr>
            <a:r>
              <a:rPr b="0" i="1" lang="en-US" sz="680" u="none" cap="none" strike="noStrike">
                <a:solidFill>
                  <a:srgbClr val="64748B"/>
                </a:solidFill>
                <a:latin typeface="Trebuchet MS"/>
                <a:ea typeface="Trebuchet MS"/>
                <a:cs typeface="Trebuchet MS"/>
                <a:sym typeface="Trebuchet MS"/>
              </a:rPr>
              <a:t>Mechanism breakdown changes how support should be evaluated and reformed   |   Data: Türkiye Fossil Fuel Support Database 2020–2023 · Values in Real 2023 TRY</a:t>
            </a:r>
            <a:endParaRPr b="0" i="0" sz="68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263" name="Shape 263"/>
        <p:cNvGrpSpPr/>
        <p:nvPr/>
      </p:nvGrpSpPr>
      <p:grpSpPr>
        <a:xfrm>
          <a:off x="0" y="0"/>
          <a:ext cx="0" cy="0"/>
          <a:chOff x="0" y="0"/>
          <a:chExt cx="0" cy="0"/>
        </a:xfrm>
      </p:grpSpPr>
      <p:sp>
        <p:nvSpPr>
          <p:cNvPr id="264" name="Google Shape;264;p10"/>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FINDING  6</a:t>
            </a:r>
            <a:endParaRPr b="0" i="0" sz="750" u="none" cap="none" strike="noStrike">
              <a:solidFill>
                <a:schemeClr val="dk1"/>
              </a:solidFill>
              <a:latin typeface="Calibri"/>
              <a:ea typeface="Calibri"/>
              <a:cs typeface="Calibri"/>
              <a:sym typeface="Calibri"/>
            </a:endParaRPr>
          </a:p>
        </p:txBody>
      </p:sp>
      <p:sp>
        <p:nvSpPr>
          <p:cNvPr id="268" name="Google Shape;268;p10"/>
          <p:cNvSpPr/>
          <p:nvPr/>
        </p:nvSpPr>
        <p:spPr>
          <a:xfrm>
            <a:off x="274320" y="475488"/>
            <a:ext cx="5486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50"/>
              <a:buFont typeface="Trebuchet MS"/>
              <a:buNone/>
            </a:pPr>
            <a:r>
              <a:rPr b="1" i="0" lang="en-US" sz="1650" u="none" cap="none" strike="noStrike">
                <a:solidFill>
                  <a:srgbClr val="1E293B"/>
                </a:solidFill>
                <a:latin typeface="Trebuchet MS"/>
                <a:ea typeface="Trebuchet MS"/>
                <a:cs typeface="Trebuchet MS"/>
                <a:sym typeface="Trebuchet MS"/>
              </a:rPr>
              <a:t>A split universe: liquid fuels get tax breaks, power fuels get cash transfers</a:t>
            </a:r>
            <a:endParaRPr b="0" i="0" sz="1650" u="none" cap="none" strike="noStrike">
              <a:solidFill>
                <a:schemeClr val="dk1"/>
              </a:solidFill>
              <a:latin typeface="Calibri"/>
              <a:ea typeface="Calibri"/>
              <a:cs typeface="Calibri"/>
              <a:sym typeface="Calibri"/>
            </a:endParaRPr>
          </a:p>
        </p:txBody>
      </p:sp>
      <p:graphicFrame>
        <p:nvGraphicFramePr>
          <p:cNvPr id="269" name="Google Shape;269;p10"/>
          <p:cNvGraphicFramePr/>
          <p:nvPr/>
        </p:nvGraphicFramePr>
        <p:xfrm>
          <a:off x="292608" y="1005840"/>
          <a:ext cx="5577840" cy="3520440"/>
        </p:xfrm>
        <a:graphic>
          <a:graphicData uri="http://schemas.openxmlformats.org/drawingml/2006/chart">
            <c:chart r:id="rId3"/>
          </a:graphicData>
        </a:graphic>
      </p:graphicFrame>
      <p:sp>
        <p:nvSpPr>
          <p:cNvPr id="270" name="Google Shape;270;p10"/>
          <p:cNvSpPr/>
          <p:nvPr/>
        </p:nvSpPr>
        <p:spPr>
          <a:xfrm>
            <a:off x="6035040" y="1005840"/>
            <a:ext cx="2880360" cy="3749040"/>
          </a:xfrm>
          <a:prstGeom prst="rect">
            <a:avLst/>
          </a:prstGeom>
          <a:solidFill>
            <a:srgbClr val="0A1628"/>
          </a:solidFill>
          <a:ln cap="flat" cmpd="sng" w="12700">
            <a:solidFill>
              <a:srgbClr val="0A162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6035040" y="1005840"/>
            <a:ext cx="288036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6172200" y="1097280"/>
            <a:ext cx="2606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KEY TAKEAWAYS</a:t>
            </a:r>
            <a:endParaRPr b="0" i="0" sz="800" u="none" cap="none" strike="noStrike">
              <a:solidFill>
                <a:schemeClr val="dk1"/>
              </a:solidFill>
              <a:latin typeface="Calibri"/>
              <a:ea typeface="Calibri"/>
              <a:cs typeface="Calibri"/>
              <a:sym typeface="Calibri"/>
            </a:endParaRPr>
          </a:p>
        </p:txBody>
      </p:sp>
      <p:cxnSp>
        <p:nvCxnSpPr>
          <p:cNvPr id="273" name="Google Shape;273;p10"/>
          <p:cNvCxnSpPr/>
          <p:nvPr/>
        </p:nvCxnSpPr>
        <p:spPr>
          <a:xfrm>
            <a:off x="6172200" y="1371600"/>
            <a:ext cx="2606040" cy="0"/>
          </a:xfrm>
          <a:prstGeom prst="straightConnector1">
            <a:avLst/>
          </a:prstGeom>
          <a:noFill/>
          <a:ln cap="flat" cmpd="sng" w="9525">
            <a:solidFill>
              <a:srgbClr val="0D6E6E"/>
            </a:solidFill>
            <a:prstDash val="solid"/>
            <a:round/>
            <a:headEnd len="sm" w="sm" type="none"/>
            <a:tailEnd len="sm" w="sm" type="none"/>
          </a:ln>
        </p:spPr>
      </p:cxnSp>
      <p:sp>
        <p:nvSpPr>
          <p:cNvPr id="274" name="Google Shape;274;p10"/>
          <p:cNvSpPr/>
          <p:nvPr/>
        </p:nvSpPr>
        <p:spPr>
          <a:xfrm>
            <a:off x="6163056" y="1527048"/>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6163056" y="1527048"/>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1</a:t>
            </a:r>
            <a:endParaRPr b="0" i="0" sz="750" u="none" cap="none" strike="noStrike">
              <a:solidFill>
                <a:schemeClr val="dk1"/>
              </a:solidFill>
              <a:latin typeface="Calibri"/>
              <a:ea typeface="Calibri"/>
              <a:cs typeface="Calibri"/>
              <a:sym typeface="Calibri"/>
            </a:endParaRPr>
          </a:p>
        </p:txBody>
      </p:sp>
      <p:sp>
        <p:nvSpPr>
          <p:cNvPr id="276" name="Google Shape;276;p10"/>
          <p:cNvSpPr/>
          <p:nvPr/>
        </p:nvSpPr>
        <p:spPr>
          <a:xfrm>
            <a:off x="6492240" y="1517904"/>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Fuel and Oil receive 100% of their support through tax exemptions — every lira is forgone revenue, with no direct payment to any recipient</a:t>
            </a:r>
            <a:endParaRPr b="0" i="0" sz="950" u="none" cap="none" strike="noStrike">
              <a:solidFill>
                <a:schemeClr val="dk1"/>
              </a:solidFill>
              <a:latin typeface="Calibri"/>
              <a:ea typeface="Calibri"/>
              <a:cs typeface="Calibri"/>
              <a:sym typeface="Calibri"/>
            </a:endParaRPr>
          </a:p>
        </p:txBody>
      </p:sp>
      <p:sp>
        <p:nvSpPr>
          <p:cNvPr id="277" name="Google Shape;277;p10"/>
          <p:cNvSpPr/>
          <p:nvPr/>
        </p:nvSpPr>
        <p:spPr>
          <a:xfrm>
            <a:off x="6163056" y="2551176"/>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6163056" y="2551176"/>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2</a:t>
            </a:r>
            <a:endParaRPr b="0" i="0" sz="750" u="none" cap="none" strike="noStrike">
              <a:solidFill>
                <a:schemeClr val="dk1"/>
              </a:solidFill>
              <a:latin typeface="Calibri"/>
              <a:ea typeface="Calibri"/>
              <a:cs typeface="Calibri"/>
              <a:sym typeface="Calibri"/>
            </a:endParaRPr>
          </a:p>
        </p:txBody>
      </p:sp>
      <p:sp>
        <p:nvSpPr>
          <p:cNvPr id="279" name="Google Shape;279;p10"/>
          <p:cNvSpPr/>
          <p:nvPr/>
        </p:nvSpPr>
        <p:spPr>
          <a:xfrm>
            <a:off x="6492240" y="2542032"/>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Coal and Natural Gas receive 100% of their support as direct cash disbursements — a completely different governance model with different accountability</a:t>
            </a:r>
            <a:endParaRPr b="0" i="0" sz="950" u="none" cap="none" strike="noStrike">
              <a:solidFill>
                <a:schemeClr val="dk1"/>
              </a:solidFill>
              <a:latin typeface="Calibri"/>
              <a:ea typeface="Calibri"/>
              <a:cs typeface="Calibri"/>
              <a:sym typeface="Calibri"/>
            </a:endParaRPr>
          </a:p>
        </p:txBody>
      </p:sp>
      <p:sp>
        <p:nvSpPr>
          <p:cNvPr id="280" name="Google Shape;280;p10"/>
          <p:cNvSpPr/>
          <p:nvPr/>
        </p:nvSpPr>
        <p:spPr>
          <a:xfrm>
            <a:off x="6163056" y="3575304"/>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6163056" y="3575304"/>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3</a:t>
            </a:r>
            <a:endParaRPr b="0" i="0" sz="750" u="none" cap="none" strike="noStrike">
              <a:solidFill>
                <a:schemeClr val="dk1"/>
              </a:solidFill>
              <a:latin typeface="Calibri"/>
              <a:ea typeface="Calibri"/>
              <a:cs typeface="Calibri"/>
              <a:sym typeface="Calibri"/>
            </a:endParaRPr>
          </a:p>
        </p:txBody>
      </p:sp>
      <p:sp>
        <p:nvSpPr>
          <p:cNvPr id="282" name="Google Shape;282;p10"/>
          <p:cNvSpPr/>
          <p:nvPr/>
        </p:nvSpPr>
        <p:spPr>
          <a:xfrm>
            <a:off x="6492240" y="3566160"/>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These two parallel systems suggest not a single subsidy policy, but two separate political bargains serving different constituencies</a:t>
            </a:r>
            <a:endParaRPr b="0" i="0" sz="950" u="none" cap="none" strike="noStrike">
              <a:solidFill>
                <a:schemeClr val="dk1"/>
              </a:solidFill>
              <a:latin typeface="Calibri"/>
              <a:ea typeface="Calibri"/>
              <a:cs typeface="Calibri"/>
              <a:sym typeface="Calibri"/>
            </a:endParaRPr>
          </a:p>
        </p:txBody>
      </p:sp>
      <p:sp>
        <p:nvSpPr>
          <p:cNvPr id="283" name="Google Shape;283;p10"/>
          <p:cNvSpPr/>
          <p:nvPr/>
        </p:nvSpPr>
        <p:spPr>
          <a:xfrm>
            <a:off x="292608" y="4754880"/>
            <a:ext cx="5577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680"/>
              <a:buFont typeface="Trebuchet MS"/>
              <a:buNone/>
            </a:pPr>
            <a:r>
              <a:rPr b="0" i="1" lang="en-US" sz="680" u="none" cap="none" strike="noStrike">
                <a:solidFill>
                  <a:srgbClr val="64748B"/>
                </a:solidFill>
                <a:latin typeface="Trebuchet MS"/>
                <a:ea typeface="Trebuchet MS"/>
                <a:cs typeface="Trebuchet MS"/>
                <a:sym typeface="Trebuchet MS"/>
              </a:rPr>
              <a:t>Data: Türkiye Fossil Fuel Support Database 2020–2023 · All monetary values expressed in Real 2023 TRY</a:t>
            </a:r>
            <a:endParaRPr b="0" i="0" sz="68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288" name="Shape 288"/>
        <p:cNvGrpSpPr/>
        <p:nvPr/>
      </p:nvGrpSpPr>
      <p:grpSpPr>
        <a:xfrm>
          <a:off x="0" y="0"/>
          <a:ext cx="0" cy="0"/>
          <a:chOff x="0" y="0"/>
          <a:chExt cx="0" cy="0"/>
        </a:xfrm>
      </p:grpSpPr>
      <p:sp>
        <p:nvSpPr>
          <p:cNvPr id="289" name="Google Shape;289;p11"/>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FINDING  7</a:t>
            </a:r>
            <a:endParaRPr b="0" i="0" sz="750" u="none" cap="none" strike="noStrike">
              <a:solidFill>
                <a:schemeClr val="dk1"/>
              </a:solidFill>
              <a:latin typeface="Calibri"/>
              <a:ea typeface="Calibri"/>
              <a:cs typeface="Calibri"/>
              <a:sym typeface="Calibri"/>
            </a:endParaRPr>
          </a:p>
        </p:txBody>
      </p:sp>
      <p:sp>
        <p:nvSpPr>
          <p:cNvPr id="293" name="Google Shape;293;p11"/>
          <p:cNvSpPr/>
          <p:nvPr/>
        </p:nvSpPr>
        <p:spPr>
          <a:xfrm>
            <a:off x="274320" y="475488"/>
            <a:ext cx="5486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50"/>
              <a:buFont typeface="Trebuchet MS"/>
              <a:buNone/>
            </a:pPr>
            <a:r>
              <a:rPr b="1" i="0" lang="en-US" sz="1650" u="none" cap="none" strike="noStrike">
                <a:solidFill>
                  <a:srgbClr val="1E293B"/>
                </a:solidFill>
                <a:latin typeface="Trebuchet MS"/>
                <a:ea typeface="Trebuchet MS"/>
                <a:cs typeface="Trebuchet MS"/>
                <a:sym typeface="Trebuchet MS"/>
              </a:rPr>
              <a:t>Three programmes out of 26 command nearly half the nation's energy budget</a:t>
            </a:r>
            <a:endParaRPr b="0" i="0" sz="1650" u="none" cap="none" strike="noStrike">
              <a:solidFill>
                <a:schemeClr val="dk1"/>
              </a:solidFill>
              <a:latin typeface="Calibri"/>
              <a:ea typeface="Calibri"/>
              <a:cs typeface="Calibri"/>
              <a:sym typeface="Calibri"/>
            </a:endParaRPr>
          </a:p>
        </p:txBody>
      </p:sp>
      <p:graphicFrame>
        <p:nvGraphicFramePr>
          <p:cNvPr id="294" name="Google Shape;294;p11"/>
          <p:cNvGraphicFramePr/>
          <p:nvPr/>
        </p:nvGraphicFramePr>
        <p:xfrm>
          <a:off x="292608" y="1005840"/>
          <a:ext cx="5577840" cy="3520440"/>
        </p:xfrm>
        <a:graphic>
          <a:graphicData uri="http://schemas.openxmlformats.org/drawingml/2006/chart">
            <c:chart r:id="rId3"/>
          </a:graphicData>
        </a:graphic>
      </p:graphicFrame>
      <p:sp>
        <p:nvSpPr>
          <p:cNvPr id="295" name="Google Shape;295;p11"/>
          <p:cNvSpPr/>
          <p:nvPr/>
        </p:nvSpPr>
        <p:spPr>
          <a:xfrm>
            <a:off x="6035040" y="1005840"/>
            <a:ext cx="2880360" cy="3749040"/>
          </a:xfrm>
          <a:prstGeom prst="rect">
            <a:avLst/>
          </a:prstGeom>
          <a:solidFill>
            <a:srgbClr val="0A1628"/>
          </a:solidFill>
          <a:ln cap="flat" cmpd="sng" w="12700">
            <a:solidFill>
              <a:srgbClr val="0A162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6035040" y="1005840"/>
            <a:ext cx="288036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6172200" y="1097280"/>
            <a:ext cx="26060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800"/>
              <a:buFont typeface="Trebuchet MS"/>
              <a:buNone/>
            </a:pPr>
            <a:r>
              <a:rPr b="1" i="0" lang="en-US" sz="800" u="none" cap="none" strike="noStrike">
                <a:solidFill>
                  <a:srgbClr val="2DD4A0"/>
                </a:solidFill>
                <a:latin typeface="Trebuchet MS"/>
                <a:ea typeface="Trebuchet MS"/>
                <a:cs typeface="Trebuchet MS"/>
                <a:sym typeface="Trebuchet MS"/>
              </a:rPr>
              <a:t>KEY TAKEAWAYS</a:t>
            </a:r>
            <a:endParaRPr b="0" i="0" sz="800" u="none" cap="none" strike="noStrike">
              <a:solidFill>
                <a:schemeClr val="dk1"/>
              </a:solidFill>
              <a:latin typeface="Calibri"/>
              <a:ea typeface="Calibri"/>
              <a:cs typeface="Calibri"/>
              <a:sym typeface="Calibri"/>
            </a:endParaRPr>
          </a:p>
        </p:txBody>
      </p:sp>
      <p:cxnSp>
        <p:nvCxnSpPr>
          <p:cNvPr id="298" name="Google Shape;298;p11"/>
          <p:cNvCxnSpPr/>
          <p:nvPr/>
        </p:nvCxnSpPr>
        <p:spPr>
          <a:xfrm>
            <a:off x="6172200" y="1371600"/>
            <a:ext cx="2606040" cy="0"/>
          </a:xfrm>
          <a:prstGeom prst="straightConnector1">
            <a:avLst/>
          </a:prstGeom>
          <a:noFill/>
          <a:ln cap="flat" cmpd="sng" w="9525">
            <a:solidFill>
              <a:srgbClr val="0D6E6E"/>
            </a:solidFill>
            <a:prstDash val="solid"/>
            <a:round/>
            <a:headEnd len="sm" w="sm" type="none"/>
            <a:tailEnd len="sm" w="sm" type="none"/>
          </a:ln>
        </p:spPr>
      </p:cxnSp>
      <p:sp>
        <p:nvSpPr>
          <p:cNvPr id="299" name="Google Shape;299;p11"/>
          <p:cNvSpPr/>
          <p:nvPr/>
        </p:nvSpPr>
        <p:spPr>
          <a:xfrm>
            <a:off x="6163056" y="1527048"/>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6163056" y="1527048"/>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1</a:t>
            </a:r>
            <a:endParaRPr b="0" i="0" sz="750" u="none" cap="none" strike="noStrike">
              <a:solidFill>
                <a:schemeClr val="dk1"/>
              </a:solidFill>
              <a:latin typeface="Calibri"/>
              <a:ea typeface="Calibri"/>
              <a:cs typeface="Calibri"/>
              <a:sym typeface="Calibri"/>
            </a:endParaRPr>
          </a:p>
        </p:txBody>
      </p:sp>
      <p:sp>
        <p:nvSpPr>
          <p:cNvPr id="301" name="Google Shape;301;p11"/>
          <p:cNvSpPr/>
          <p:nvPr/>
        </p:nvSpPr>
        <p:spPr>
          <a:xfrm>
            <a:off x="6492240" y="1517904"/>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TE_12 (Naphtha), TE_04 (Oil Exploration), and TE_07 (Aviation) together account for 45.5% of all spending across the four-year period</a:t>
            </a:r>
            <a:endParaRPr b="0" i="0" sz="950" u="none" cap="none" strike="noStrike">
              <a:solidFill>
                <a:schemeClr val="dk1"/>
              </a:solidFill>
              <a:latin typeface="Calibri"/>
              <a:ea typeface="Calibri"/>
              <a:cs typeface="Calibri"/>
              <a:sym typeface="Calibri"/>
            </a:endParaRPr>
          </a:p>
        </p:txBody>
      </p:sp>
      <p:sp>
        <p:nvSpPr>
          <p:cNvPr id="302" name="Google Shape;302;p11"/>
          <p:cNvSpPr/>
          <p:nvPr/>
        </p:nvSpPr>
        <p:spPr>
          <a:xfrm>
            <a:off x="6163056" y="2551176"/>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6163056" y="2551176"/>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2</a:t>
            </a:r>
            <a:endParaRPr b="0" i="0" sz="750" u="none" cap="none" strike="noStrike">
              <a:solidFill>
                <a:schemeClr val="dk1"/>
              </a:solidFill>
              <a:latin typeface="Calibri"/>
              <a:ea typeface="Calibri"/>
              <a:cs typeface="Calibri"/>
              <a:sym typeface="Calibri"/>
            </a:endParaRPr>
          </a:p>
        </p:txBody>
      </p:sp>
      <p:sp>
        <p:nvSpPr>
          <p:cNvPr id="304" name="Google Shape;304;p11"/>
          <p:cNvSpPr/>
          <p:nvPr/>
        </p:nvSpPr>
        <p:spPr>
          <a:xfrm>
            <a:off x="6492240" y="2542032"/>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TE_12 alone — a single naphtha exemption — represents ₺65.1B, or roughly 26 cents of every real lira spent</a:t>
            </a:r>
            <a:endParaRPr b="0" i="0" sz="950" u="none" cap="none" strike="noStrike">
              <a:solidFill>
                <a:schemeClr val="dk1"/>
              </a:solidFill>
              <a:latin typeface="Calibri"/>
              <a:ea typeface="Calibri"/>
              <a:cs typeface="Calibri"/>
              <a:sym typeface="Calibri"/>
            </a:endParaRPr>
          </a:p>
        </p:txBody>
      </p:sp>
      <p:sp>
        <p:nvSpPr>
          <p:cNvPr id="305" name="Google Shape;305;p11"/>
          <p:cNvSpPr/>
          <p:nvPr/>
        </p:nvSpPr>
        <p:spPr>
          <a:xfrm>
            <a:off x="6163056" y="3575304"/>
            <a:ext cx="246888" cy="246888"/>
          </a:xfrm>
          <a:prstGeom prst="ellipse">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6163056" y="3575304"/>
            <a:ext cx="2468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3</a:t>
            </a:r>
            <a:endParaRPr b="0" i="0" sz="750" u="none" cap="none" strike="noStrike">
              <a:solidFill>
                <a:schemeClr val="dk1"/>
              </a:solidFill>
              <a:latin typeface="Calibri"/>
              <a:ea typeface="Calibri"/>
              <a:cs typeface="Calibri"/>
              <a:sym typeface="Calibri"/>
            </a:endParaRPr>
          </a:p>
        </p:txBody>
      </p:sp>
      <p:sp>
        <p:nvSpPr>
          <p:cNvPr id="307" name="Google Shape;307;p11"/>
          <p:cNvSpPr/>
          <p:nvPr/>
        </p:nvSpPr>
        <p:spPr>
          <a:xfrm>
            <a:off x="6492240" y="3566160"/>
            <a:ext cx="228600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F7F2"/>
              </a:buClr>
              <a:buSzPts val="950"/>
              <a:buFont typeface="Trebuchet MS"/>
              <a:buNone/>
            </a:pPr>
            <a:r>
              <a:rPr b="0" i="0" lang="en-US" sz="950" u="none" cap="none" strike="noStrike">
                <a:solidFill>
                  <a:srgbClr val="E8F7F2"/>
                </a:solidFill>
                <a:latin typeface="Trebuchet MS"/>
                <a:ea typeface="Trebuchet MS"/>
                <a:cs typeface="Trebuchet MS"/>
                <a:sym typeface="Trebuchet MS"/>
              </a:rPr>
              <a:t>Concentrating reform on just 3 of 26 programmes could unlock half the budget for reallocation to citizens and clean energy</a:t>
            </a:r>
            <a:endParaRPr b="0" i="0" sz="950" u="none" cap="none" strike="noStrike">
              <a:solidFill>
                <a:schemeClr val="dk1"/>
              </a:solidFill>
              <a:latin typeface="Calibri"/>
              <a:ea typeface="Calibri"/>
              <a:cs typeface="Calibri"/>
              <a:sym typeface="Calibri"/>
            </a:endParaRPr>
          </a:p>
        </p:txBody>
      </p:sp>
      <p:sp>
        <p:nvSpPr>
          <p:cNvPr id="308" name="Google Shape;308;p11"/>
          <p:cNvSpPr/>
          <p:nvPr/>
        </p:nvSpPr>
        <p:spPr>
          <a:xfrm>
            <a:off x="292608" y="4754880"/>
            <a:ext cx="5577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680"/>
              <a:buFont typeface="Trebuchet MS"/>
              <a:buNone/>
            </a:pPr>
            <a:r>
              <a:rPr b="0" i="1" lang="en-US" sz="680" u="none" cap="none" strike="noStrike">
                <a:solidFill>
                  <a:srgbClr val="64748B"/>
                </a:solidFill>
                <a:latin typeface="Trebuchet MS"/>
                <a:ea typeface="Trebuchet MS"/>
                <a:cs typeface="Trebuchet MS"/>
                <a:sym typeface="Trebuchet MS"/>
              </a:rPr>
              <a:t>Data: Türkiye Fossil Fuel Support Database 2020–2023 · All monetary values expressed in Real 2023 TRY</a:t>
            </a:r>
            <a:endParaRPr b="0" i="0" sz="68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313" name="Shape 313"/>
        <p:cNvGrpSpPr/>
        <p:nvPr/>
      </p:nvGrpSpPr>
      <p:grpSpPr>
        <a:xfrm>
          <a:off x="0" y="0"/>
          <a:ext cx="0" cy="0"/>
          <a:chOff x="0" y="0"/>
          <a:chExt cx="0" cy="0"/>
        </a:xfrm>
      </p:grpSpPr>
      <p:sp>
        <p:nvSpPr>
          <p:cNvPr id="314" name="Google Shape;314;p12"/>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2"/>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STRATEGY</a:t>
            </a:r>
            <a:endParaRPr b="0" i="0" sz="750" u="none" cap="none" strike="noStrike">
              <a:solidFill>
                <a:schemeClr val="dk1"/>
              </a:solidFill>
              <a:latin typeface="Calibri"/>
              <a:ea typeface="Calibri"/>
              <a:cs typeface="Calibri"/>
              <a:sym typeface="Calibri"/>
            </a:endParaRPr>
          </a:p>
        </p:txBody>
      </p:sp>
      <p:sp>
        <p:nvSpPr>
          <p:cNvPr id="318" name="Google Shape;318;p12"/>
          <p:cNvSpPr/>
          <p:nvPr/>
        </p:nvSpPr>
        <p:spPr>
          <a:xfrm>
            <a:off x="292608" y="109728"/>
            <a:ext cx="8503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900"/>
              <a:buFont typeface="Trebuchet MS"/>
              <a:buNone/>
            </a:pPr>
            <a:r>
              <a:rPr b="1" i="0" lang="en-US" sz="1900" u="none" cap="none" strike="noStrike">
                <a:solidFill>
                  <a:srgbClr val="0A1628"/>
                </a:solidFill>
                <a:latin typeface="Trebuchet MS"/>
                <a:ea typeface="Trebuchet MS"/>
                <a:cs typeface="Trebuchet MS"/>
                <a:sym typeface="Trebuchet MS"/>
              </a:rPr>
              <a:t>FROM PHANTOM SPENDING TO PURPOSEFUL INVESTMENT</a:t>
            </a:r>
            <a:endParaRPr b="0" i="0" sz="1900" u="none" cap="none" strike="noStrike">
              <a:solidFill>
                <a:schemeClr val="dk1"/>
              </a:solidFill>
              <a:latin typeface="Calibri"/>
              <a:ea typeface="Calibri"/>
              <a:cs typeface="Calibri"/>
              <a:sym typeface="Calibri"/>
            </a:endParaRPr>
          </a:p>
        </p:txBody>
      </p:sp>
      <p:sp>
        <p:nvSpPr>
          <p:cNvPr id="319" name="Google Shape;319;p12"/>
          <p:cNvSpPr/>
          <p:nvPr/>
        </p:nvSpPr>
        <p:spPr>
          <a:xfrm>
            <a:off x="292608" y="530352"/>
            <a:ext cx="8503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Trebuchet MS"/>
              <a:buNone/>
            </a:pPr>
            <a:r>
              <a:rPr b="0" i="1" lang="en-US" sz="1150" u="none" cap="none" strike="noStrike">
                <a:solidFill>
                  <a:srgbClr val="1E293B"/>
                </a:solidFill>
                <a:latin typeface="Trebuchet MS"/>
                <a:ea typeface="Trebuchet MS"/>
                <a:cs typeface="Trebuchet MS"/>
                <a:sym typeface="Trebuchet MS"/>
              </a:rPr>
              <a:t>Three moves that redirect invisible money toward visible, lasting benefit</a:t>
            </a:r>
            <a:endParaRPr b="0" i="0" sz="1150" u="none" cap="none" strike="noStrike">
              <a:solidFill>
                <a:schemeClr val="dk1"/>
              </a:solidFill>
              <a:latin typeface="Calibri"/>
              <a:ea typeface="Calibri"/>
              <a:cs typeface="Calibri"/>
              <a:sym typeface="Calibri"/>
            </a:endParaRPr>
          </a:p>
        </p:txBody>
      </p:sp>
      <p:sp>
        <p:nvSpPr>
          <p:cNvPr id="320" name="Google Shape;320;p12"/>
          <p:cNvSpPr/>
          <p:nvPr/>
        </p:nvSpPr>
        <p:spPr>
          <a:xfrm>
            <a:off x="292608" y="1005840"/>
            <a:ext cx="2743200" cy="393192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292608" y="1005840"/>
            <a:ext cx="2743200" cy="5029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2"/>
          <p:cNvSpPr/>
          <p:nvPr/>
        </p:nvSpPr>
        <p:spPr>
          <a:xfrm>
            <a:off x="402336" y="10241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01</a:t>
            </a:r>
            <a:endParaRPr b="0" i="0" sz="2200" u="none" cap="none" strike="noStrike">
              <a:solidFill>
                <a:schemeClr val="dk1"/>
              </a:solidFill>
              <a:latin typeface="Calibri"/>
              <a:ea typeface="Calibri"/>
              <a:cs typeface="Calibri"/>
              <a:sym typeface="Calibri"/>
            </a:endParaRPr>
          </a:p>
        </p:txBody>
      </p:sp>
      <p:sp>
        <p:nvSpPr>
          <p:cNvPr id="323" name="Google Shape;323;p12"/>
          <p:cNvSpPr/>
          <p:nvPr/>
        </p:nvSpPr>
        <p:spPr>
          <a:xfrm>
            <a:off x="914400" y="1069848"/>
            <a:ext cx="20116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Trebuchet MS"/>
              <a:buNone/>
            </a:pPr>
            <a:r>
              <a:rPr b="1" i="0" lang="en-US" sz="1050" u="none" cap="none" strike="noStrike">
                <a:solidFill>
                  <a:srgbClr val="FFFFFF"/>
                </a:solidFill>
                <a:latin typeface="Trebuchet MS"/>
                <a:ea typeface="Trebuchet MS"/>
                <a:cs typeface="Trebuchet MS"/>
                <a:sym typeface="Trebuchet MS"/>
              </a:rPr>
              <a:t>Condition the Tax Break</a:t>
            </a:r>
            <a:endParaRPr b="0" i="0" sz="1050" u="none" cap="none" strike="noStrike">
              <a:solidFill>
                <a:schemeClr val="dk1"/>
              </a:solidFill>
              <a:latin typeface="Calibri"/>
              <a:ea typeface="Calibri"/>
              <a:cs typeface="Calibri"/>
              <a:sym typeface="Calibri"/>
            </a:endParaRPr>
          </a:p>
        </p:txBody>
      </p:sp>
      <p:sp>
        <p:nvSpPr>
          <p:cNvPr id="324" name="Google Shape;324;p12"/>
          <p:cNvSpPr/>
          <p:nvPr/>
        </p:nvSpPr>
        <p:spPr>
          <a:xfrm>
            <a:off x="420624" y="1581912"/>
            <a:ext cx="2487168"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Industrial exemptions — particularly TE_12 for Naphtha — should be preserved but conditioned. Companies that retain their tax relief must demonstrate reinvestment of a defined percentage into verified energy efficiency upgrades or equipment modernisation.</a:t>
            </a:r>
            <a:endParaRPr b="0" i="0" sz="950" u="none" cap="none" strike="noStrike">
              <a:solidFill>
                <a:schemeClr val="dk1"/>
              </a:solidFill>
              <a:latin typeface="Calibri"/>
              <a:ea typeface="Calibri"/>
              <a:cs typeface="Calibri"/>
              <a:sym typeface="Calibri"/>
            </a:endParaRPr>
          </a:p>
        </p:txBody>
      </p:sp>
      <p:sp>
        <p:nvSpPr>
          <p:cNvPr id="325" name="Google Shape;325;p12"/>
          <p:cNvSpPr/>
          <p:nvPr/>
        </p:nvSpPr>
        <p:spPr>
          <a:xfrm>
            <a:off x="420624" y="3364992"/>
            <a:ext cx="2487168" cy="1417320"/>
          </a:xfrm>
          <a:prstGeom prst="rect">
            <a:avLst/>
          </a:prstGeom>
          <a:solidFill>
            <a:srgbClr val="EBF7F2"/>
          </a:solidFill>
          <a:ln cap="flat" cmpd="sng" w="1015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512064" y="3419856"/>
            <a:ext cx="23042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700"/>
              <a:buFont typeface="Trebuchet MS"/>
              <a:buNone/>
            </a:pPr>
            <a:r>
              <a:rPr b="1" i="0" lang="en-US" sz="700" u="none" cap="none" strike="noStrike">
                <a:solidFill>
                  <a:srgbClr val="1A9E6E"/>
                </a:solidFill>
                <a:latin typeface="Trebuchet MS"/>
                <a:ea typeface="Trebuchet MS"/>
                <a:cs typeface="Trebuchet MS"/>
                <a:sym typeface="Trebuchet MS"/>
              </a:rPr>
              <a:t>EXPECTED IMPACT</a:t>
            </a:r>
            <a:endParaRPr b="0" i="0" sz="700" u="none" cap="none" strike="noStrike">
              <a:solidFill>
                <a:schemeClr val="dk1"/>
              </a:solidFill>
              <a:latin typeface="Calibri"/>
              <a:ea typeface="Calibri"/>
              <a:cs typeface="Calibri"/>
              <a:sym typeface="Calibri"/>
            </a:endParaRPr>
          </a:p>
        </p:txBody>
      </p:sp>
      <p:sp>
        <p:nvSpPr>
          <p:cNvPr id="327" name="Google Shape;327;p12"/>
          <p:cNvSpPr/>
          <p:nvPr/>
        </p:nvSpPr>
        <p:spPr>
          <a:xfrm>
            <a:off x="512064" y="3657600"/>
            <a:ext cx="2304288"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Trebuchet MS"/>
              <a:buNone/>
            </a:pPr>
            <a:r>
              <a:rPr b="0" i="0" lang="en-US" sz="850" u="none" cap="none" strike="noStrike">
                <a:solidFill>
                  <a:srgbClr val="1E293B"/>
                </a:solidFill>
                <a:latin typeface="Trebuchet MS"/>
                <a:ea typeface="Trebuchet MS"/>
                <a:cs typeface="Trebuchet MS"/>
                <a:sym typeface="Trebuchet MS"/>
              </a:rPr>
              <a:t>Industry competitiveness is protected. The government advances its 2053 net-zero commitment without a single budget outlay.</a:t>
            </a:r>
            <a:endParaRPr b="0" i="0" sz="850" u="none" cap="none" strike="noStrike">
              <a:solidFill>
                <a:schemeClr val="dk1"/>
              </a:solidFill>
              <a:latin typeface="Calibri"/>
              <a:ea typeface="Calibri"/>
              <a:cs typeface="Calibri"/>
              <a:sym typeface="Calibri"/>
            </a:endParaRPr>
          </a:p>
        </p:txBody>
      </p:sp>
      <p:sp>
        <p:nvSpPr>
          <p:cNvPr id="328" name="Google Shape;328;p12"/>
          <p:cNvSpPr/>
          <p:nvPr/>
        </p:nvSpPr>
        <p:spPr>
          <a:xfrm>
            <a:off x="3191256" y="1005840"/>
            <a:ext cx="2743200" cy="393192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3191256" y="1005840"/>
            <a:ext cx="2743200" cy="502920"/>
          </a:xfrm>
          <a:prstGeom prst="rect">
            <a:avLst/>
          </a:prstGeom>
          <a:solidFill>
            <a:srgbClr val="0D6E6E"/>
          </a:solidFill>
          <a:ln cap="flat" cmpd="sng" w="12700">
            <a:solidFill>
              <a:srgbClr val="0D6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3300984" y="10241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02</a:t>
            </a:r>
            <a:endParaRPr b="0" i="0" sz="2200" u="none" cap="none" strike="noStrike">
              <a:solidFill>
                <a:schemeClr val="dk1"/>
              </a:solidFill>
              <a:latin typeface="Calibri"/>
              <a:ea typeface="Calibri"/>
              <a:cs typeface="Calibri"/>
              <a:sym typeface="Calibri"/>
            </a:endParaRPr>
          </a:p>
        </p:txBody>
      </p:sp>
      <p:sp>
        <p:nvSpPr>
          <p:cNvPr id="331" name="Google Shape;331;p12"/>
          <p:cNvSpPr/>
          <p:nvPr/>
        </p:nvSpPr>
        <p:spPr>
          <a:xfrm>
            <a:off x="3813048" y="1069848"/>
            <a:ext cx="20116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Trebuchet MS"/>
              <a:buNone/>
            </a:pPr>
            <a:r>
              <a:rPr b="1" i="0" lang="en-US" sz="1050" u="none" cap="none" strike="noStrike">
                <a:solidFill>
                  <a:srgbClr val="FFFFFF"/>
                </a:solidFill>
                <a:latin typeface="Trebuchet MS"/>
                <a:ea typeface="Trebuchet MS"/>
                <a:cs typeface="Trebuchet MS"/>
                <a:sym typeface="Trebuchet MS"/>
              </a:rPr>
              <a:t>A Precision Support Shield</a:t>
            </a:r>
            <a:endParaRPr b="0" i="0" sz="1050" u="none" cap="none" strike="noStrike">
              <a:solidFill>
                <a:schemeClr val="dk1"/>
              </a:solidFill>
              <a:latin typeface="Calibri"/>
              <a:ea typeface="Calibri"/>
              <a:cs typeface="Calibri"/>
              <a:sym typeface="Calibri"/>
            </a:endParaRPr>
          </a:p>
        </p:txBody>
      </p:sp>
      <p:sp>
        <p:nvSpPr>
          <p:cNvPr id="332" name="Google Shape;332;p12"/>
          <p:cNvSpPr/>
          <p:nvPr/>
        </p:nvSpPr>
        <p:spPr>
          <a:xfrm>
            <a:off x="3319272" y="1581912"/>
            <a:ext cx="2487168"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Natural gas and coal transfers currently reach all household tiers indiscriminately. A means-tested targeting model — retaining full support for low-income households, tapering for middle-income, removing for high-income — recovers significant funds with minimal welfare impact.</a:t>
            </a:r>
            <a:endParaRPr b="0" i="0" sz="950" u="none" cap="none" strike="noStrike">
              <a:solidFill>
                <a:schemeClr val="dk1"/>
              </a:solidFill>
              <a:latin typeface="Calibri"/>
              <a:ea typeface="Calibri"/>
              <a:cs typeface="Calibri"/>
              <a:sym typeface="Calibri"/>
            </a:endParaRPr>
          </a:p>
        </p:txBody>
      </p:sp>
      <p:sp>
        <p:nvSpPr>
          <p:cNvPr id="333" name="Google Shape;333;p12"/>
          <p:cNvSpPr/>
          <p:nvPr/>
        </p:nvSpPr>
        <p:spPr>
          <a:xfrm>
            <a:off x="3319272" y="3364992"/>
            <a:ext cx="2487168" cy="1417320"/>
          </a:xfrm>
          <a:prstGeom prst="rect">
            <a:avLst/>
          </a:prstGeom>
          <a:solidFill>
            <a:srgbClr val="EBF7F2"/>
          </a:solidFill>
          <a:ln cap="flat" cmpd="sng" w="1015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3410712" y="3419856"/>
            <a:ext cx="23042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700"/>
              <a:buFont typeface="Trebuchet MS"/>
              <a:buNone/>
            </a:pPr>
            <a:r>
              <a:rPr b="1" i="0" lang="en-US" sz="700" u="none" cap="none" strike="noStrike">
                <a:solidFill>
                  <a:srgbClr val="1A9E6E"/>
                </a:solidFill>
                <a:latin typeface="Trebuchet MS"/>
                <a:ea typeface="Trebuchet MS"/>
                <a:cs typeface="Trebuchet MS"/>
                <a:sym typeface="Trebuchet MS"/>
              </a:rPr>
              <a:t>EXPECTED IMPACT</a:t>
            </a:r>
            <a:endParaRPr b="0" i="0" sz="700" u="none" cap="none" strike="noStrike">
              <a:solidFill>
                <a:schemeClr val="dk1"/>
              </a:solidFill>
              <a:latin typeface="Calibri"/>
              <a:ea typeface="Calibri"/>
              <a:cs typeface="Calibri"/>
              <a:sym typeface="Calibri"/>
            </a:endParaRPr>
          </a:p>
        </p:txBody>
      </p:sp>
      <p:sp>
        <p:nvSpPr>
          <p:cNvPr id="335" name="Google Shape;335;p12"/>
          <p:cNvSpPr/>
          <p:nvPr/>
        </p:nvSpPr>
        <p:spPr>
          <a:xfrm>
            <a:off x="3410712" y="3657600"/>
            <a:ext cx="2304288"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Trebuchet MS"/>
              <a:buNone/>
            </a:pPr>
            <a:r>
              <a:rPr b="0" i="0" lang="en-US" sz="850" u="none" cap="none" strike="noStrike">
                <a:solidFill>
                  <a:srgbClr val="1E293B"/>
                </a:solidFill>
                <a:latin typeface="Trebuchet MS"/>
                <a:ea typeface="Trebuchet MS"/>
                <a:cs typeface="Trebuchet MS"/>
                <a:sym typeface="Trebuchet MS"/>
              </a:rPr>
              <a:t>Billions are unlocked for redeployment. Households who genuinely depend on support receive more, not less.</a:t>
            </a:r>
            <a:endParaRPr b="0" i="0" sz="850" u="none" cap="none" strike="noStrike">
              <a:solidFill>
                <a:schemeClr val="dk1"/>
              </a:solidFill>
              <a:latin typeface="Calibri"/>
              <a:ea typeface="Calibri"/>
              <a:cs typeface="Calibri"/>
              <a:sym typeface="Calibri"/>
            </a:endParaRPr>
          </a:p>
        </p:txBody>
      </p:sp>
      <p:sp>
        <p:nvSpPr>
          <p:cNvPr id="336" name="Google Shape;336;p12"/>
          <p:cNvSpPr/>
          <p:nvPr/>
        </p:nvSpPr>
        <p:spPr>
          <a:xfrm>
            <a:off x="6089904" y="1005840"/>
            <a:ext cx="2743200" cy="393192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2"/>
          <p:cNvSpPr/>
          <p:nvPr/>
        </p:nvSpPr>
        <p:spPr>
          <a:xfrm>
            <a:off x="6089904" y="1005840"/>
            <a:ext cx="2743200" cy="502920"/>
          </a:xfrm>
          <a:prstGeom prst="rect">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6199632" y="1024128"/>
            <a:ext cx="502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03</a:t>
            </a:r>
            <a:endParaRPr b="0" i="0" sz="2200" u="none" cap="none" strike="noStrike">
              <a:solidFill>
                <a:schemeClr val="dk1"/>
              </a:solidFill>
              <a:latin typeface="Calibri"/>
              <a:ea typeface="Calibri"/>
              <a:cs typeface="Calibri"/>
              <a:sym typeface="Calibri"/>
            </a:endParaRPr>
          </a:p>
        </p:txBody>
      </p:sp>
      <p:sp>
        <p:nvSpPr>
          <p:cNvPr id="339" name="Google Shape;339;p12"/>
          <p:cNvSpPr/>
          <p:nvPr/>
        </p:nvSpPr>
        <p:spPr>
          <a:xfrm>
            <a:off x="6711696" y="1069848"/>
            <a:ext cx="20116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Trebuchet MS"/>
              <a:buNone/>
            </a:pPr>
            <a:r>
              <a:rPr b="1" i="0" lang="en-US" sz="1050" u="none" cap="none" strike="noStrike">
                <a:solidFill>
                  <a:srgbClr val="FFFFFF"/>
                </a:solidFill>
                <a:latin typeface="Trebuchet MS"/>
                <a:ea typeface="Trebuchet MS"/>
                <a:cs typeface="Trebuchet MS"/>
                <a:sym typeface="Trebuchet MS"/>
              </a:rPr>
              <a:t>Invest in Energy Sovereignty</a:t>
            </a:r>
            <a:endParaRPr b="0" i="0" sz="1050" u="none" cap="none" strike="noStrike">
              <a:solidFill>
                <a:schemeClr val="dk1"/>
              </a:solidFill>
              <a:latin typeface="Calibri"/>
              <a:ea typeface="Calibri"/>
              <a:cs typeface="Calibri"/>
              <a:sym typeface="Calibri"/>
            </a:endParaRPr>
          </a:p>
        </p:txBody>
      </p:sp>
      <p:sp>
        <p:nvSpPr>
          <p:cNvPr id="340" name="Google Shape;340;p12"/>
          <p:cNvSpPr/>
          <p:nvPr/>
        </p:nvSpPr>
        <p:spPr>
          <a:xfrm>
            <a:off x="6217920" y="1581912"/>
            <a:ext cx="2487168"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With 70% of energy imported, Türkiye's subsidy burden will recur with every global price shock. Recovered funds should seed co-investment in domestic renewable generation — solar and wind — through structured government-industry partnerships.</a:t>
            </a:r>
            <a:endParaRPr b="0" i="0" sz="950" u="none" cap="none" strike="noStrike">
              <a:solidFill>
                <a:schemeClr val="dk1"/>
              </a:solidFill>
              <a:latin typeface="Calibri"/>
              <a:ea typeface="Calibri"/>
              <a:cs typeface="Calibri"/>
              <a:sym typeface="Calibri"/>
            </a:endParaRPr>
          </a:p>
        </p:txBody>
      </p:sp>
      <p:sp>
        <p:nvSpPr>
          <p:cNvPr id="341" name="Google Shape;341;p12"/>
          <p:cNvSpPr/>
          <p:nvPr/>
        </p:nvSpPr>
        <p:spPr>
          <a:xfrm>
            <a:off x="6217920" y="3364992"/>
            <a:ext cx="2487168" cy="1417320"/>
          </a:xfrm>
          <a:prstGeom prst="rect">
            <a:avLst/>
          </a:prstGeom>
          <a:solidFill>
            <a:srgbClr val="EBF7F2"/>
          </a:solidFill>
          <a:ln cap="flat" cmpd="sng" w="1015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p:nvPr/>
        </p:nvSpPr>
        <p:spPr>
          <a:xfrm>
            <a:off x="6309360" y="3419856"/>
            <a:ext cx="23042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700"/>
              <a:buFont typeface="Trebuchet MS"/>
              <a:buNone/>
            </a:pPr>
            <a:r>
              <a:rPr b="1" i="0" lang="en-US" sz="700" u="none" cap="none" strike="noStrike">
                <a:solidFill>
                  <a:srgbClr val="1A9E6E"/>
                </a:solidFill>
                <a:latin typeface="Trebuchet MS"/>
                <a:ea typeface="Trebuchet MS"/>
                <a:cs typeface="Trebuchet MS"/>
                <a:sym typeface="Trebuchet MS"/>
              </a:rPr>
              <a:t>EXPECTED IMPACT</a:t>
            </a:r>
            <a:endParaRPr b="0" i="0" sz="700" u="none" cap="none" strike="noStrike">
              <a:solidFill>
                <a:schemeClr val="dk1"/>
              </a:solidFill>
              <a:latin typeface="Calibri"/>
              <a:ea typeface="Calibri"/>
              <a:cs typeface="Calibri"/>
              <a:sym typeface="Calibri"/>
            </a:endParaRPr>
          </a:p>
        </p:txBody>
      </p:sp>
      <p:sp>
        <p:nvSpPr>
          <p:cNvPr id="343" name="Google Shape;343;p12"/>
          <p:cNvSpPr/>
          <p:nvPr/>
        </p:nvSpPr>
        <p:spPr>
          <a:xfrm>
            <a:off x="6309360" y="3657600"/>
            <a:ext cx="2304288"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Trebuchet MS"/>
              <a:buNone/>
            </a:pPr>
            <a:r>
              <a:rPr b="0" i="0" lang="en-US" sz="850" u="none" cap="none" strike="noStrike">
                <a:solidFill>
                  <a:srgbClr val="1E293B"/>
                </a:solidFill>
                <a:latin typeface="Trebuchet MS"/>
                <a:ea typeface="Trebuchet MS"/>
                <a:cs typeface="Trebuchet MS"/>
                <a:sym typeface="Trebuchet MS"/>
              </a:rPr>
              <a:t>Each gigawatt of domestic capacity permanently reduces import exposure and future subsidy liability.</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8F7F2"/>
        </a:solidFill>
      </p:bgPr>
    </p:bg>
    <p:spTree>
      <p:nvGrpSpPr>
        <p:cNvPr id="348" name="Shape 348"/>
        <p:cNvGrpSpPr/>
        <p:nvPr/>
      </p:nvGrpSpPr>
      <p:grpSpPr>
        <a:xfrm>
          <a:off x="0" y="0"/>
          <a:ext cx="0" cy="0"/>
          <a:chOff x="0" y="0"/>
          <a:chExt cx="0" cy="0"/>
        </a:xfrm>
      </p:grpSpPr>
      <p:sp>
        <p:nvSpPr>
          <p:cNvPr id="349" name="Google Shape;349;p13"/>
          <p:cNvSpPr/>
          <p:nvPr/>
        </p:nvSpPr>
        <p:spPr>
          <a:xfrm>
            <a:off x="0" y="0"/>
            <a:ext cx="9144000" cy="5029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0" y="0"/>
            <a:ext cx="82296" cy="514350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7406640" y="91440"/>
            <a:ext cx="1600200" cy="274320"/>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7406640" y="91440"/>
            <a:ext cx="1600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Trebuchet MS"/>
              <a:buNone/>
            </a:pPr>
            <a:r>
              <a:rPr b="1" i="0" lang="en-US" sz="750" u="none" cap="none" strike="noStrike">
                <a:solidFill>
                  <a:srgbClr val="FFFFFF"/>
                </a:solidFill>
                <a:latin typeface="Trebuchet MS"/>
                <a:ea typeface="Trebuchet MS"/>
                <a:cs typeface="Trebuchet MS"/>
                <a:sym typeface="Trebuchet MS"/>
              </a:rPr>
              <a:t>ROADMAP</a:t>
            </a:r>
            <a:endParaRPr b="0" i="0" sz="750" u="none" cap="none" strike="noStrike">
              <a:solidFill>
                <a:schemeClr val="dk1"/>
              </a:solidFill>
              <a:latin typeface="Calibri"/>
              <a:ea typeface="Calibri"/>
              <a:cs typeface="Calibri"/>
              <a:sym typeface="Calibri"/>
            </a:endParaRPr>
          </a:p>
        </p:txBody>
      </p:sp>
      <p:sp>
        <p:nvSpPr>
          <p:cNvPr id="353" name="Google Shape;353;p13"/>
          <p:cNvSpPr/>
          <p:nvPr/>
        </p:nvSpPr>
        <p:spPr>
          <a:xfrm>
            <a:off x="292608" y="109728"/>
            <a:ext cx="8503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1628"/>
              </a:buClr>
              <a:buSzPts val="1900"/>
              <a:buFont typeface="Trebuchet MS"/>
              <a:buNone/>
            </a:pPr>
            <a:r>
              <a:rPr b="1" i="0" lang="en-US" sz="1900" u="none" cap="none" strike="noStrike">
                <a:solidFill>
                  <a:srgbClr val="0A1628"/>
                </a:solidFill>
                <a:latin typeface="Trebuchet MS"/>
                <a:ea typeface="Trebuchet MS"/>
                <a:cs typeface="Trebuchet MS"/>
                <a:sym typeface="Trebuchet MS"/>
              </a:rPr>
              <a:t>A SEQUENCED PATH TO REFORM</a:t>
            </a:r>
            <a:endParaRPr b="0" i="0" sz="1900" u="none" cap="none" strike="noStrike">
              <a:solidFill>
                <a:schemeClr val="dk1"/>
              </a:solidFill>
              <a:latin typeface="Calibri"/>
              <a:ea typeface="Calibri"/>
              <a:cs typeface="Calibri"/>
              <a:sym typeface="Calibri"/>
            </a:endParaRPr>
          </a:p>
        </p:txBody>
      </p:sp>
      <p:sp>
        <p:nvSpPr>
          <p:cNvPr id="354" name="Google Shape;354;p13"/>
          <p:cNvSpPr/>
          <p:nvPr/>
        </p:nvSpPr>
        <p:spPr>
          <a:xfrm>
            <a:off x="292608" y="530352"/>
            <a:ext cx="8503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Trebuchet MS"/>
              <a:buNone/>
            </a:pPr>
            <a:r>
              <a:rPr b="0" i="1" lang="en-US" sz="1150" u="none" cap="none" strike="noStrike">
                <a:solidFill>
                  <a:srgbClr val="1E293B"/>
                </a:solidFill>
                <a:latin typeface="Trebuchet MS"/>
                <a:ea typeface="Trebuchet MS"/>
                <a:cs typeface="Trebuchet MS"/>
                <a:sym typeface="Trebuchet MS"/>
              </a:rPr>
              <a:t>Transition must be phased to maintain economic stability while unlocking change</a:t>
            </a:r>
            <a:endParaRPr b="0" i="0" sz="1150" u="none" cap="none" strike="noStrike">
              <a:solidFill>
                <a:schemeClr val="dk1"/>
              </a:solidFill>
              <a:latin typeface="Calibri"/>
              <a:ea typeface="Calibri"/>
              <a:cs typeface="Calibri"/>
              <a:sym typeface="Calibri"/>
            </a:endParaRPr>
          </a:p>
        </p:txBody>
      </p:sp>
      <p:sp>
        <p:nvSpPr>
          <p:cNvPr id="355" name="Google Shape;355;p13"/>
          <p:cNvSpPr/>
          <p:nvPr/>
        </p:nvSpPr>
        <p:spPr>
          <a:xfrm>
            <a:off x="292608" y="1005840"/>
            <a:ext cx="2743200" cy="393192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292608" y="1005840"/>
            <a:ext cx="2743200" cy="530352"/>
          </a:xfrm>
          <a:prstGeom prst="rect">
            <a:avLst/>
          </a:prstGeom>
          <a:solidFill>
            <a:srgbClr val="1A9E6E"/>
          </a:solidFill>
          <a:ln cap="flat" cmpd="sng" w="12700">
            <a:solidFill>
              <a:srgbClr val="1A9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420624" y="1042416"/>
            <a:ext cx="24871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Trebuchet MS"/>
              <a:buNone/>
            </a:pPr>
            <a:r>
              <a:rPr b="1" i="0" lang="en-US" sz="800" u="none" cap="none" strike="noStrike">
                <a:solidFill>
                  <a:srgbClr val="FFFFFF"/>
                </a:solidFill>
                <a:latin typeface="Trebuchet MS"/>
                <a:ea typeface="Trebuchet MS"/>
                <a:cs typeface="Trebuchet MS"/>
                <a:sym typeface="Trebuchet MS"/>
              </a:rPr>
              <a:t>PHASE 1  ·  Months 1–6</a:t>
            </a:r>
            <a:endParaRPr b="0" i="0" sz="800" u="none" cap="none" strike="noStrike">
              <a:solidFill>
                <a:schemeClr val="dk1"/>
              </a:solidFill>
              <a:latin typeface="Calibri"/>
              <a:ea typeface="Calibri"/>
              <a:cs typeface="Calibri"/>
              <a:sym typeface="Calibri"/>
            </a:endParaRPr>
          </a:p>
        </p:txBody>
      </p:sp>
      <p:sp>
        <p:nvSpPr>
          <p:cNvPr id="358" name="Google Shape;358;p13"/>
          <p:cNvSpPr/>
          <p:nvPr/>
        </p:nvSpPr>
        <p:spPr>
          <a:xfrm>
            <a:off x="420624" y="1280160"/>
            <a:ext cx="24871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Assess &amp; Align</a:t>
            </a:r>
            <a:endParaRPr b="0" i="0" sz="1200" u="none" cap="none" strike="noStrike">
              <a:solidFill>
                <a:schemeClr val="dk1"/>
              </a:solidFill>
              <a:latin typeface="Calibri"/>
              <a:ea typeface="Calibri"/>
              <a:cs typeface="Calibri"/>
              <a:sym typeface="Calibri"/>
            </a:endParaRPr>
          </a:p>
        </p:txBody>
      </p:sp>
      <p:sp>
        <p:nvSpPr>
          <p:cNvPr id="359" name="Google Shape;359;p13"/>
          <p:cNvSpPr/>
          <p:nvPr/>
        </p:nvSpPr>
        <p:spPr>
          <a:xfrm>
            <a:off x="420624" y="1645920"/>
            <a:ext cx="248716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  Convene industry roundtables to co-design the conditioned tax relief criteria</a:t>
            </a:r>
            <a:endParaRPr b="0" i="0" sz="950" u="none" cap="none" strike="noStrike">
              <a:solidFill>
                <a:schemeClr val="dk1"/>
              </a:solidFill>
              <a:latin typeface="Calibri"/>
              <a:ea typeface="Calibri"/>
              <a:cs typeface="Calibri"/>
              <a:sym typeface="Calibri"/>
            </a:endParaRPr>
          </a:p>
        </p:txBody>
      </p:sp>
      <p:sp>
        <p:nvSpPr>
          <p:cNvPr id="360" name="Google Shape;360;p13"/>
          <p:cNvSpPr/>
          <p:nvPr/>
        </p:nvSpPr>
        <p:spPr>
          <a:xfrm>
            <a:off x="420624" y="2487168"/>
            <a:ext cx="248716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  Commission means-testing data collection to identify eligible household tiers for the precision shield</a:t>
            </a:r>
            <a:endParaRPr b="0" i="0" sz="950" u="none" cap="none" strike="noStrike">
              <a:solidFill>
                <a:schemeClr val="dk1"/>
              </a:solidFill>
              <a:latin typeface="Calibri"/>
              <a:ea typeface="Calibri"/>
              <a:cs typeface="Calibri"/>
              <a:sym typeface="Calibri"/>
            </a:endParaRPr>
          </a:p>
        </p:txBody>
      </p:sp>
      <p:sp>
        <p:nvSpPr>
          <p:cNvPr id="361" name="Google Shape;361;p13"/>
          <p:cNvSpPr/>
          <p:nvPr/>
        </p:nvSpPr>
        <p:spPr>
          <a:xfrm>
            <a:off x="420624" y="3401568"/>
            <a:ext cx="2487168" cy="1371600"/>
          </a:xfrm>
          <a:prstGeom prst="rect">
            <a:avLst/>
          </a:prstGeom>
          <a:solidFill>
            <a:srgbClr val="EBF7F2"/>
          </a:solidFill>
          <a:ln cap="flat" cmpd="sng" w="12700">
            <a:solidFill>
              <a:srgbClr val="B2D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512064" y="3456432"/>
            <a:ext cx="23042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700"/>
              <a:buFont typeface="Trebuchet MS"/>
              <a:buNone/>
            </a:pPr>
            <a:r>
              <a:rPr b="1" i="0" lang="en-US" sz="700" u="none" cap="none" strike="noStrike">
                <a:solidFill>
                  <a:srgbClr val="1A9E6E"/>
                </a:solidFill>
                <a:latin typeface="Trebuchet MS"/>
                <a:ea typeface="Trebuchet MS"/>
                <a:cs typeface="Trebuchet MS"/>
                <a:sym typeface="Trebuchet MS"/>
              </a:rPr>
              <a:t>PHASE OUTCOME</a:t>
            </a:r>
            <a:endParaRPr b="0" i="0" sz="700" u="none" cap="none" strike="noStrike">
              <a:solidFill>
                <a:schemeClr val="dk1"/>
              </a:solidFill>
              <a:latin typeface="Calibri"/>
              <a:ea typeface="Calibri"/>
              <a:cs typeface="Calibri"/>
              <a:sym typeface="Calibri"/>
            </a:endParaRPr>
          </a:p>
        </p:txBody>
      </p:sp>
      <p:sp>
        <p:nvSpPr>
          <p:cNvPr id="363" name="Google Shape;363;p13"/>
          <p:cNvSpPr/>
          <p:nvPr/>
        </p:nvSpPr>
        <p:spPr>
          <a:xfrm>
            <a:off x="512064" y="3694176"/>
            <a:ext cx="2304288"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Trebuchet MS"/>
              <a:buNone/>
            </a:pPr>
            <a:r>
              <a:rPr b="0" i="0" lang="en-US" sz="850" u="none" cap="none" strike="noStrike">
                <a:solidFill>
                  <a:srgbClr val="1E293B"/>
                </a:solidFill>
                <a:latin typeface="Trebuchet MS"/>
                <a:ea typeface="Trebuchet MS"/>
                <a:cs typeface="Trebuchet MS"/>
                <a:sym typeface="Trebuchet MS"/>
              </a:rPr>
              <a:t>Industry trust is established before any rule changes. The citizen support list is ready before transfers shift.</a:t>
            </a:r>
            <a:endParaRPr b="0" i="0" sz="850" u="none" cap="none" strike="noStrike">
              <a:solidFill>
                <a:schemeClr val="dk1"/>
              </a:solidFill>
              <a:latin typeface="Calibri"/>
              <a:ea typeface="Calibri"/>
              <a:cs typeface="Calibri"/>
              <a:sym typeface="Calibri"/>
            </a:endParaRPr>
          </a:p>
        </p:txBody>
      </p:sp>
      <p:sp>
        <p:nvSpPr>
          <p:cNvPr id="364" name="Google Shape;364;p13"/>
          <p:cNvSpPr/>
          <p:nvPr/>
        </p:nvSpPr>
        <p:spPr>
          <a:xfrm>
            <a:off x="3191256" y="1005840"/>
            <a:ext cx="2743200" cy="393192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a:off x="3191256" y="1005840"/>
            <a:ext cx="2743200" cy="530352"/>
          </a:xfrm>
          <a:prstGeom prst="rect">
            <a:avLst/>
          </a:prstGeom>
          <a:solidFill>
            <a:srgbClr val="0D6E6E"/>
          </a:solidFill>
          <a:ln cap="flat" cmpd="sng" w="12700">
            <a:solidFill>
              <a:srgbClr val="0D6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3319272" y="1042416"/>
            <a:ext cx="24871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Trebuchet MS"/>
              <a:buNone/>
            </a:pPr>
            <a:r>
              <a:rPr b="1" i="0" lang="en-US" sz="800" u="none" cap="none" strike="noStrike">
                <a:solidFill>
                  <a:srgbClr val="FFFFFF"/>
                </a:solidFill>
                <a:latin typeface="Trebuchet MS"/>
                <a:ea typeface="Trebuchet MS"/>
                <a:cs typeface="Trebuchet MS"/>
                <a:sym typeface="Trebuchet MS"/>
              </a:rPr>
              <a:t>PHASE 2  ·  Months 7–18</a:t>
            </a:r>
            <a:endParaRPr b="0" i="0" sz="800" u="none" cap="none" strike="noStrike">
              <a:solidFill>
                <a:schemeClr val="dk1"/>
              </a:solidFill>
              <a:latin typeface="Calibri"/>
              <a:ea typeface="Calibri"/>
              <a:cs typeface="Calibri"/>
              <a:sym typeface="Calibri"/>
            </a:endParaRPr>
          </a:p>
        </p:txBody>
      </p:sp>
      <p:sp>
        <p:nvSpPr>
          <p:cNvPr id="367" name="Google Shape;367;p13"/>
          <p:cNvSpPr/>
          <p:nvPr/>
        </p:nvSpPr>
        <p:spPr>
          <a:xfrm>
            <a:off x="3319272" y="1280160"/>
            <a:ext cx="24871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Shift Begins</a:t>
            </a:r>
            <a:endParaRPr b="0" i="0" sz="1200" u="none" cap="none" strike="noStrike">
              <a:solidFill>
                <a:schemeClr val="dk1"/>
              </a:solidFill>
              <a:latin typeface="Calibri"/>
              <a:ea typeface="Calibri"/>
              <a:cs typeface="Calibri"/>
              <a:sym typeface="Calibri"/>
            </a:endParaRPr>
          </a:p>
        </p:txBody>
      </p:sp>
      <p:sp>
        <p:nvSpPr>
          <p:cNvPr id="368" name="Google Shape;368;p13"/>
          <p:cNvSpPr/>
          <p:nvPr/>
        </p:nvSpPr>
        <p:spPr>
          <a:xfrm>
            <a:off x="3319272" y="1645920"/>
            <a:ext cx="248716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  Activate the targeted household cash transfers to eligible citizens</a:t>
            </a:r>
            <a:endParaRPr b="0" i="0" sz="950" u="none" cap="none" strike="noStrike">
              <a:solidFill>
                <a:schemeClr val="dk1"/>
              </a:solidFill>
              <a:latin typeface="Calibri"/>
              <a:ea typeface="Calibri"/>
              <a:cs typeface="Calibri"/>
              <a:sym typeface="Calibri"/>
            </a:endParaRPr>
          </a:p>
        </p:txBody>
      </p:sp>
      <p:sp>
        <p:nvSpPr>
          <p:cNvPr id="369" name="Google Shape;369;p13"/>
          <p:cNvSpPr/>
          <p:nvPr/>
        </p:nvSpPr>
        <p:spPr>
          <a:xfrm>
            <a:off x="3319272" y="2487168"/>
            <a:ext cx="248716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  Introduce new conditionality clauses for industrial tax exemptions, with a 12-month adaptation grace period</a:t>
            </a:r>
            <a:endParaRPr b="0" i="0" sz="950" u="none" cap="none" strike="noStrike">
              <a:solidFill>
                <a:schemeClr val="dk1"/>
              </a:solidFill>
              <a:latin typeface="Calibri"/>
              <a:ea typeface="Calibri"/>
              <a:cs typeface="Calibri"/>
              <a:sym typeface="Calibri"/>
            </a:endParaRPr>
          </a:p>
        </p:txBody>
      </p:sp>
      <p:sp>
        <p:nvSpPr>
          <p:cNvPr id="370" name="Google Shape;370;p13"/>
          <p:cNvSpPr/>
          <p:nvPr/>
        </p:nvSpPr>
        <p:spPr>
          <a:xfrm>
            <a:off x="3319272" y="3401568"/>
            <a:ext cx="2487168" cy="1371600"/>
          </a:xfrm>
          <a:prstGeom prst="rect">
            <a:avLst/>
          </a:prstGeom>
          <a:solidFill>
            <a:srgbClr val="EBF7F2"/>
          </a:solidFill>
          <a:ln cap="flat" cmpd="sng" w="12700">
            <a:solidFill>
              <a:srgbClr val="B2D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a:off x="3410712" y="3456432"/>
            <a:ext cx="23042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700"/>
              <a:buFont typeface="Trebuchet MS"/>
              <a:buNone/>
            </a:pPr>
            <a:r>
              <a:rPr b="1" i="0" lang="en-US" sz="700" u="none" cap="none" strike="noStrike">
                <a:solidFill>
                  <a:srgbClr val="1A9E6E"/>
                </a:solidFill>
                <a:latin typeface="Trebuchet MS"/>
                <a:ea typeface="Trebuchet MS"/>
                <a:cs typeface="Trebuchet MS"/>
                <a:sym typeface="Trebuchet MS"/>
              </a:rPr>
              <a:t>PHASE OUTCOME</a:t>
            </a:r>
            <a:endParaRPr b="0" i="0" sz="700" u="none" cap="none" strike="noStrike">
              <a:solidFill>
                <a:schemeClr val="dk1"/>
              </a:solidFill>
              <a:latin typeface="Calibri"/>
              <a:ea typeface="Calibri"/>
              <a:cs typeface="Calibri"/>
              <a:sym typeface="Calibri"/>
            </a:endParaRPr>
          </a:p>
        </p:txBody>
      </p:sp>
      <p:sp>
        <p:nvSpPr>
          <p:cNvPr id="372" name="Google Shape;372;p13"/>
          <p:cNvSpPr/>
          <p:nvPr/>
        </p:nvSpPr>
        <p:spPr>
          <a:xfrm>
            <a:off x="3410712" y="3694176"/>
            <a:ext cx="2304288"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Trebuchet MS"/>
              <a:buNone/>
            </a:pPr>
            <a:r>
              <a:rPr b="0" i="0" lang="en-US" sz="850" u="none" cap="none" strike="noStrike">
                <a:solidFill>
                  <a:srgbClr val="1E293B"/>
                </a:solidFill>
                <a:latin typeface="Trebuchet MS"/>
                <a:ea typeface="Trebuchet MS"/>
                <a:cs typeface="Trebuchet MS"/>
                <a:sym typeface="Trebuchet MS"/>
              </a:rPr>
              <a:t>Citizens in need are protected from day one. Businesses have runway to comply without workforce disruption.</a:t>
            </a:r>
            <a:endParaRPr b="0" i="0" sz="850" u="none" cap="none" strike="noStrike">
              <a:solidFill>
                <a:schemeClr val="dk1"/>
              </a:solidFill>
              <a:latin typeface="Calibri"/>
              <a:ea typeface="Calibri"/>
              <a:cs typeface="Calibri"/>
              <a:sym typeface="Calibri"/>
            </a:endParaRPr>
          </a:p>
        </p:txBody>
      </p:sp>
      <p:sp>
        <p:nvSpPr>
          <p:cNvPr id="373" name="Google Shape;373;p13"/>
          <p:cNvSpPr/>
          <p:nvPr/>
        </p:nvSpPr>
        <p:spPr>
          <a:xfrm>
            <a:off x="6089904" y="1005840"/>
            <a:ext cx="2743200" cy="3931920"/>
          </a:xfrm>
          <a:prstGeom prst="rect">
            <a:avLst/>
          </a:prstGeom>
          <a:solidFill>
            <a:srgbClr val="FFFFFF"/>
          </a:solidFill>
          <a:ln cap="flat" cmpd="sng" w="12700">
            <a:solidFill>
              <a:srgbClr val="D4DDE8"/>
            </a:solidFill>
            <a:prstDash val="solid"/>
            <a:round/>
            <a:headEnd len="sm" w="sm" type="none"/>
            <a:tailEnd len="sm" w="sm" type="none"/>
          </a:ln>
          <a:effectLst>
            <a:outerShdw blurRad="1270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6089904" y="1005840"/>
            <a:ext cx="2743200" cy="530352"/>
          </a:xfrm>
          <a:prstGeom prst="rect">
            <a:avLst/>
          </a:prstGeom>
          <a:solidFill>
            <a:srgbClr val="0A1628"/>
          </a:solidFill>
          <a:ln cap="flat" cmpd="sng" w="12700">
            <a:solidFill>
              <a:srgbClr val="0A16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6217920" y="1042416"/>
            <a:ext cx="248716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
              <a:buFont typeface="Trebuchet MS"/>
              <a:buNone/>
            </a:pPr>
            <a:r>
              <a:rPr b="1" i="0" lang="en-US" sz="800" u="none" cap="none" strike="noStrike">
                <a:solidFill>
                  <a:srgbClr val="FFFFFF"/>
                </a:solidFill>
                <a:latin typeface="Trebuchet MS"/>
                <a:ea typeface="Trebuchet MS"/>
                <a:cs typeface="Trebuchet MS"/>
                <a:sym typeface="Trebuchet MS"/>
              </a:rPr>
              <a:t>PHASE 3  ·  Months 19–24</a:t>
            </a:r>
            <a:endParaRPr b="0" i="0" sz="800" u="none" cap="none" strike="noStrike">
              <a:solidFill>
                <a:schemeClr val="dk1"/>
              </a:solidFill>
              <a:latin typeface="Calibri"/>
              <a:ea typeface="Calibri"/>
              <a:cs typeface="Calibri"/>
              <a:sym typeface="Calibri"/>
            </a:endParaRPr>
          </a:p>
        </p:txBody>
      </p:sp>
      <p:sp>
        <p:nvSpPr>
          <p:cNvPr id="376" name="Google Shape;376;p13"/>
          <p:cNvSpPr/>
          <p:nvPr/>
        </p:nvSpPr>
        <p:spPr>
          <a:xfrm>
            <a:off x="6217920" y="1280160"/>
            <a:ext cx="248716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Build Forward</a:t>
            </a:r>
            <a:endParaRPr b="0" i="0" sz="1200" u="none" cap="none" strike="noStrike">
              <a:solidFill>
                <a:schemeClr val="dk1"/>
              </a:solidFill>
              <a:latin typeface="Calibri"/>
              <a:ea typeface="Calibri"/>
              <a:cs typeface="Calibri"/>
              <a:sym typeface="Calibri"/>
            </a:endParaRPr>
          </a:p>
        </p:txBody>
      </p:sp>
      <p:sp>
        <p:nvSpPr>
          <p:cNvPr id="377" name="Google Shape;377;p13"/>
          <p:cNvSpPr/>
          <p:nvPr/>
        </p:nvSpPr>
        <p:spPr>
          <a:xfrm>
            <a:off x="6217920" y="1645920"/>
            <a:ext cx="248716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  Deploy recovered budget savings into joint government-industry renewable energy projects</a:t>
            </a:r>
            <a:endParaRPr b="0" i="0" sz="950" u="none" cap="none" strike="noStrike">
              <a:solidFill>
                <a:schemeClr val="dk1"/>
              </a:solidFill>
              <a:latin typeface="Calibri"/>
              <a:ea typeface="Calibri"/>
              <a:cs typeface="Calibri"/>
              <a:sym typeface="Calibri"/>
            </a:endParaRPr>
          </a:p>
        </p:txBody>
      </p:sp>
      <p:sp>
        <p:nvSpPr>
          <p:cNvPr id="378" name="Google Shape;378;p13"/>
          <p:cNvSpPr/>
          <p:nvPr/>
        </p:nvSpPr>
        <p:spPr>
          <a:xfrm>
            <a:off x="6217920" y="2487168"/>
            <a:ext cx="248716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50"/>
              <a:buFont typeface="Trebuchet MS"/>
              <a:buNone/>
            </a:pPr>
            <a:r>
              <a:rPr b="0" i="0" lang="en-US" sz="950" u="none" cap="none" strike="noStrike">
                <a:solidFill>
                  <a:srgbClr val="1E293B"/>
                </a:solidFill>
                <a:latin typeface="Trebuchet MS"/>
                <a:ea typeface="Trebuchet MS"/>
                <a:cs typeface="Trebuchet MS"/>
                <a:sym typeface="Trebuchet MS"/>
              </a:rPr>
              <a:t>→  Publish annual fiscal transparency reports on subsidy reallocation outcomes</a:t>
            </a:r>
            <a:endParaRPr b="0" i="0" sz="950" u="none" cap="none" strike="noStrike">
              <a:solidFill>
                <a:schemeClr val="dk1"/>
              </a:solidFill>
              <a:latin typeface="Calibri"/>
              <a:ea typeface="Calibri"/>
              <a:cs typeface="Calibri"/>
              <a:sym typeface="Calibri"/>
            </a:endParaRPr>
          </a:p>
        </p:txBody>
      </p:sp>
      <p:sp>
        <p:nvSpPr>
          <p:cNvPr id="379" name="Google Shape;379;p13"/>
          <p:cNvSpPr/>
          <p:nvPr/>
        </p:nvSpPr>
        <p:spPr>
          <a:xfrm>
            <a:off x="6217920" y="3401568"/>
            <a:ext cx="2487168" cy="1371600"/>
          </a:xfrm>
          <a:prstGeom prst="rect">
            <a:avLst/>
          </a:prstGeom>
          <a:solidFill>
            <a:srgbClr val="EBF7F2"/>
          </a:solidFill>
          <a:ln cap="flat" cmpd="sng" w="12700">
            <a:solidFill>
              <a:srgbClr val="B2DF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6309360" y="3456432"/>
            <a:ext cx="230428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9E6E"/>
              </a:buClr>
              <a:buSzPts val="700"/>
              <a:buFont typeface="Trebuchet MS"/>
              <a:buNone/>
            </a:pPr>
            <a:r>
              <a:rPr b="1" i="0" lang="en-US" sz="700" u="none" cap="none" strike="noStrike">
                <a:solidFill>
                  <a:srgbClr val="1A9E6E"/>
                </a:solidFill>
                <a:latin typeface="Trebuchet MS"/>
                <a:ea typeface="Trebuchet MS"/>
                <a:cs typeface="Trebuchet MS"/>
                <a:sym typeface="Trebuchet MS"/>
              </a:rPr>
              <a:t>PHASE OUTCOME</a:t>
            </a:r>
            <a:endParaRPr b="0" i="0" sz="700" u="none" cap="none" strike="noStrike">
              <a:solidFill>
                <a:schemeClr val="dk1"/>
              </a:solidFill>
              <a:latin typeface="Calibri"/>
              <a:ea typeface="Calibri"/>
              <a:cs typeface="Calibri"/>
              <a:sym typeface="Calibri"/>
            </a:endParaRPr>
          </a:p>
        </p:txBody>
      </p:sp>
      <p:sp>
        <p:nvSpPr>
          <p:cNvPr id="381" name="Google Shape;381;p13"/>
          <p:cNvSpPr/>
          <p:nvPr/>
        </p:nvSpPr>
        <p:spPr>
          <a:xfrm>
            <a:off x="6309360" y="3694176"/>
            <a:ext cx="2304288"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Trebuchet MS"/>
              <a:buNone/>
            </a:pPr>
            <a:r>
              <a:rPr b="0" i="0" lang="en-US" sz="850" u="none" cap="none" strike="noStrike">
                <a:solidFill>
                  <a:srgbClr val="1E293B"/>
                </a:solidFill>
                <a:latin typeface="Trebuchet MS"/>
                <a:ea typeface="Trebuchet MS"/>
                <a:cs typeface="Trebuchet MS"/>
                <a:sym typeface="Trebuchet MS"/>
              </a:rPr>
              <a:t>New domestic generation capacity begins reducing import dependence. Public trust is built through accountability.</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386" name="Shape 386"/>
        <p:cNvGrpSpPr/>
        <p:nvPr/>
      </p:nvGrpSpPr>
      <p:grpSpPr>
        <a:xfrm>
          <a:off x="0" y="0"/>
          <a:ext cx="0" cy="0"/>
          <a:chOff x="0" y="0"/>
          <a:chExt cx="0" cy="0"/>
        </a:xfrm>
      </p:grpSpPr>
      <p:sp>
        <p:nvSpPr>
          <p:cNvPr id="387" name="Google Shape;387;p14"/>
          <p:cNvSpPr/>
          <p:nvPr/>
        </p:nvSpPr>
        <p:spPr>
          <a:xfrm>
            <a:off x="6492240" y="0"/>
            <a:ext cx="2651760" cy="5143500"/>
          </a:xfrm>
          <a:prstGeom prst="rect">
            <a:avLst/>
          </a:prstGeom>
          <a:solidFill>
            <a:srgbClr val="0D6E6E"/>
          </a:solidFill>
          <a:ln cap="flat" cmpd="sng" w="12700">
            <a:solidFill>
              <a:srgbClr val="0D6E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5303520" y="-731520"/>
            <a:ext cx="3474720" cy="3474720"/>
          </a:xfrm>
          <a:prstGeom prst="ellipse">
            <a:avLst/>
          </a:prstGeom>
          <a:solidFill>
            <a:srgbClr val="1A9E6E">
              <a:alpha val="14901"/>
            </a:srgbClr>
          </a:solidFill>
          <a:ln cap="flat" cmpd="sng" w="12700">
            <a:solidFill>
              <a:srgbClr val="1A9E6E">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6583680" y="2926080"/>
            <a:ext cx="2286000" cy="2286000"/>
          </a:xfrm>
          <a:prstGeom prst="ellipse">
            <a:avLst/>
          </a:prstGeom>
          <a:solidFill>
            <a:srgbClr val="0A1628">
              <a:alpha val="45098"/>
            </a:srgbClr>
          </a:solidFill>
          <a:ln cap="flat" cmpd="sng" w="12700">
            <a:solidFill>
              <a:srgbClr val="0A162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365760" y="777240"/>
            <a:ext cx="64008" cy="3291840"/>
          </a:xfrm>
          <a:prstGeom prst="rect">
            <a:avLst/>
          </a:prstGeom>
          <a:solidFill>
            <a:srgbClr val="2DD4A0"/>
          </a:solidFill>
          <a:ln cap="flat" cmpd="sng" w="12700">
            <a:solidFill>
              <a:srgbClr val="2DD4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365760" y="365760"/>
            <a:ext cx="6400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A0"/>
              </a:buClr>
              <a:buSzPts val="7200"/>
              <a:buFont typeface="Trebuchet MS"/>
              <a:buNone/>
            </a:pPr>
            <a:r>
              <a:rPr b="1" i="0" lang="en-US" sz="7200" u="none" cap="none" strike="noStrike">
                <a:solidFill>
                  <a:srgbClr val="2DD4A0"/>
                </a:solidFill>
                <a:latin typeface="Trebuchet MS"/>
                <a:ea typeface="Trebuchet MS"/>
                <a:cs typeface="Trebuchet MS"/>
                <a:sym typeface="Trebuchet MS"/>
              </a:rPr>
              <a:t>“</a:t>
            </a:r>
            <a:endParaRPr b="0" i="0" sz="7200" u="none" cap="none" strike="noStrike">
              <a:solidFill>
                <a:schemeClr val="dk1"/>
              </a:solidFill>
              <a:latin typeface="Calibri"/>
              <a:ea typeface="Calibri"/>
              <a:cs typeface="Calibri"/>
              <a:sym typeface="Calibri"/>
            </a:endParaRPr>
          </a:p>
        </p:txBody>
      </p:sp>
      <p:sp>
        <p:nvSpPr>
          <p:cNvPr id="392" name="Google Shape;392;p14"/>
          <p:cNvSpPr/>
          <p:nvPr/>
        </p:nvSpPr>
        <p:spPr>
          <a:xfrm>
            <a:off x="548640" y="822960"/>
            <a:ext cx="5669280" cy="14630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3400"/>
              <a:buFont typeface="Trebuchet MS"/>
              <a:buNone/>
            </a:pPr>
            <a:r>
              <a:rPr b="1" i="0" lang="en-US" sz="3400" u="none" cap="none" strike="noStrike">
                <a:solidFill>
                  <a:srgbClr val="FFFFFF"/>
                </a:solidFill>
                <a:latin typeface="Trebuchet MS"/>
                <a:ea typeface="Trebuchet MS"/>
                <a:cs typeface="Trebuchet MS"/>
                <a:sym typeface="Trebuchet MS"/>
              </a:rPr>
              <a:t>The money was never</a:t>
            </a:r>
            <a:endParaRPr b="0" i="0" sz="3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400"/>
              <a:buFont typeface="Trebuchet MS"/>
              <a:buNone/>
            </a:pPr>
            <a:r>
              <a:rPr b="1" i="0" lang="en-US" sz="3400" u="none" cap="none" strike="noStrike">
                <a:solidFill>
                  <a:srgbClr val="FFFFFF"/>
                </a:solidFill>
                <a:latin typeface="Trebuchet MS"/>
                <a:ea typeface="Trebuchet MS"/>
                <a:cs typeface="Trebuchet MS"/>
                <a:sym typeface="Trebuchet MS"/>
              </a:rPr>
              <a:t>missing.</a:t>
            </a:r>
            <a:endParaRPr b="0" i="0" sz="3400" u="none" cap="none" strike="noStrike">
              <a:solidFill>
                <a:schemeClr val="dk1"/>
              </a:solidFill>
              <a:latin typeface="Calibri"/>
              <a:ea typeface="Calibri"/>
              <a:cs typeface="Calibri"/>
              <a:sym typeface="Calibri"/>
            </a:endParaRPr>
          </a:p>
        </p:txBody>
      </p:sp>
      <p:sp>
        <p:nvSpPr>
          <p:cNvPr id="393" name="Google Shape;393;p14"/>
          <p:cNvSpPr/>
          <p:nvPr/>
        </p:nvSpPr>
        <p:spPr>
          <a:xfrm>
            <a:off x="548640" y="2286000"/>
            <a:ext cx="5669280" cy="11887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DD4A0"/>
              </a:buClr>
              <a:buSzPts val="2200"/>
              <a:buFont typeface="Trebuchet MS"/>
              <a:buNone/>
            </a:pPr>
            <a:r>
              <a:rPr b="0" i="0" lang="en-US" sz="2200" u="none" cap="none" strike="noStrike">
                <a:solidFill>
                  <a:srgbClr val="2DD4A0"/>
                </a:solidFill>
                <a:latin typeface="Trebuchet MS"/>
                <a:ea typeface="Trebuchet MS"/>
                <a:cs typeface="Trebuchet MS"/>
                <a:sym typeface="Trebuchet MS"/>
              </a:rPr>
              <a:t>It was hiding in plain sight,</a:t>
            </a:r>
            <a:endParaRPr b="0" i="0" sz="2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2DD4A0"/>
              </a:buClr>
              <a:buSzPts val="2200"/>
              <a:buFont typeface="Trebuchet MS"/>
              <a:buNone/>
            </a:pPr>
            <a:r>
              <a:rPr b="0" i="0" lang="en-US" sz="2200" u="none" cap="none" strike="noStrike">
                <a:solidFill>
                  <a:srgbClr val="2DD4A0"/>
                </a:solidFill>
                <a:latin typeface="Trebuchet MS"/>
                <a:ea typeface="Trebuchet MS"/>
                <a:cs typeface="Trebuchet MS"/>
                <a:sym typeface="Trebuchet MS"/>
              </a:rPr>
              <a:t>inside the tax code.</a:t>
            </a:r>
            <a:endParaRPr b="0" i="0" sz="2200" u="none" cap="none" strike="noStrike">
              <a:solidFill>
                <a:schemeClr val="dk1"/>
              </a:solidFill>
              <a:latin typeface="Calibri"/>
              <a:ea typeface="Calibri"/>
              <a:cs typeface="Calibri"/>
              <a:sym typeface="Calibri"/>
            </a:endParaRPr>
          </a:p>
        </p:txBody>
      </p:sp>
      <p:sp>
        <p:nvSpPr>
          <p:cNvPr id="394" name="Google Shape;394;p14"/>
          <p:cNvSpPr/>
          <p:nvPr/>
        </p:nvSpPr>
        <p:spPr>
          <a:xfrm>
            <a:off x="548640" y="3547872"/>
            <a:ext cx="5669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8EE"/>
              </a:buClr>
              <a:buSzPts val="1050"/>
              <a:buFont typeface="Trebuchet MS"/>
              <a:buNone/>
            </a:pPr>
            <a:r>
              <a:rPr b="0" i="0" lang="en-US" sz="1050" u="none" cap="none" strike="noStrike">
                <a:solidFill>
                  <a:srgbClr val="C8D8EE"/>
                </a:solidFill>
                <a:latin typeface="Trebuchet MS"/>
                <a:ea typeface="Trebuchet MS"/>
                <a:cs typeface="Trebuchet MS"/>
                <a:sym typeface="Trebuchet MS"/>
              </a:rPr>
              <a:t>Four years of data, 26 programmes, and one critical truth: Türkiye has the resources to</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D8EE"/>
              </a:buClr>
              <a:buSzPts val="1050"/>
              <a:buFont typeface="Trebuchet MS"/>
              <a:buNone/>
            </a:pPr>
            <a:r>
              <a:rPr b="0" i="0" lang="en-US" sz="1050" u="none" cap="none" strike="noStrike">
                <a:solidFill>
                  <a:srgbClr val="C8D8EE"/>
                </a:solidFill>
                <a:latin typeface="Trebuchet MS"/>
                <a:ea typeface="Trebuchet MS"/>
                <a:cs typeface="Trebuchet MS"/>
                <a:sym typeface="Trebuchet MS"/>
              </a:rPr>
              <a:t>protect its people and build energy independence. The only question is where to point them.</a:t>
            </a:r>
            <a:endParaRPr b="0" i="0" sz="1050" u="none" cap="none" strike="noStrike">
              <a:solidFill>
                <a:schemeClr val="dk1"/>
              </a:solidFill>
              <a:latin typeface="Calibri"/>
              <a:ea typeface="Calibri"/>
              <a:cs typeface="Calibri"/>
              <a:sym typeface="Calibri"/>
            </a:endParaRPr>
          </a:p>
        </p:txBody>
      </p:sp>
      <p:sp>
        <p:nvSpPr>
          <p:cNvPr id="395" name="Google Shape;395;p14"/>
          <p:cNvSpPr/>
          <p:nvPr/>
        </p:nvSpPr>
        <p:spPr>
          <a:xfrm>
            <a:off x="6601968" y="1280160"/>
            <a:ext cx="2423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Trebuchet MS"/>
              <a:buNone/>
            </a:pPr>
            <a:r>
              <a:rPr b="1" i="0" lang="en-US" sz="1800" u="none" cap="none" strike="noStrike">
                <a:solidFill>
                  <a:srgbClr val="FFFFFF"/>
                </a:solidFill>
                <a:latin typeface="Trebuchet MS"/>
                <a:ea typeface="Trebuchet MS"/>
                <a:cs typeface="Trebuchet MS"/>
                <a:sym typeface="Trebuchet MS"/>
              </a:rPr>
              <a:t>THANK YOU</a:t>
            </a:r>
            <a:endParaRPr b="0" i="0" sz="1800" u="none" cap="none" strike="noStrike">
              <a:solidFill>
                <a:schemeClr val="dk1"/>
              </a:solidFill>
              <a:latin typeface="Calibri"/>
              <a:ea typeface="Calibri"/>
              <a:cs typeface="Calibri"/>
              <a:sym typeface="Calibri"/>
            </a:endParaRPr>
          </a:p>
        </p:txBody>
      </p:sp>
      <p:sp>
        <p:nvSpPr>
          <p:cNvPr id="396" name="Google Shape;396;p14"/>
          <p:cNvSpPr/>
          <p:nvPr/>
        </p:nvSpPr>
        <p:spPr>
          <a:xfrm>
            <a:off x="6629400" y="1920240"/>
            <a:ext cx="2377440" cy="896112"/>
          </a:xfrm>
          <a:prstGeom prst="rect">
            <a:avLst/>
          </a:prstGeom>
          <a:solidFill>
            <a:srgbClr val="0A1628">
              <a:alpha val="50196"/>
            </a:srgbClr>
          </a:solidFill>
          <a:ln cap="flat" cmpd="sng" w="10150">
            <a:solidFill>
              <a:srgbClr val="2DD4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6629400" y="1975104"/>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A0"/>
              </a:buClr>
              <a:buSzPts val="1800"/>
              <a:buFont typeface="Trebuchet MS"/>
              <a:buNone/>
            </a:pPr>
            <a:r>
              <a:rPr b="1" i="0" lang="en-US" sz="1800" u="none" cap="none" strike="noStrike">
                <a:solidFill>
                  <a:srgbClr val="2DD4A0"/>
                </a:solidFill>
                <a:latin typeface="Trebuchet MS"/>
                <a:ea typeface="Trebuchet MS"/>
                <a:cs typeface="Trebuchet MS"/>
                <a:sym typeface="Trebuchet MS"/>
              </a:rPr>
              <a:t>₺277.7B</a:t>
            </a:r>
            <a:endParaRPr b="0" i="0" sz="1800" u="none" cap="none" strike="noStrike">
              <a:solidFill>
                <a:schemeClr val="dk1"/>
              </a:solidFill>
              <a:latin typeface="Calibri"/>
              <a:ea typeface="Calibri"/>
              <a:cs typeface="Calibri"/>
              <a:sym typeface="Calibri"/>
            </a:endParaRPr>
          </a:p>
        </p:txBody>
      </p:sp>
      <p:sp>
        <p:nvSpPr>
          <p:cNvPr id="398" name="Google Shape;398;p14"/>
          <p:cNvSpPr/>
          <p:nvPr/>
        </p:nvSpPr>
        <p:spPr>
          <a:xfrm>
            <a:off x="6629400" y="2414016"/>
            <a:ext cx="23774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D8EE"/>
              </a:buClr>
              <a:buSzPts val="800"/>
              <a:buFont typeface="Trebuchet MS"/>
              <a:buNone/>
            </a:pPr>
            <a:r>
              <a:rPr b="0" i="0" lang="en-US" sz="800" u="none" cap="none" strike="noStrike">
                <a:solidFill>
                  <a:srgbClr val="C8D8EE"/>
                </a:solidFill>
                <a:latin typeface="Trebuchet MS"/>
                <a:ea typeface="Trebuchet MS"/>
                <a:cs typeface="Trebuchet MS"/>
                <a:sym typeface="Trebuchet MS"/>
              </a:rPr>
              <a:t>Real total</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EE"/>
              </a:buClr>
              <a:buSzPts val="800"/>
              <a:buFont typeface="Trebuchet MS"/>
              <a:buNone/>
            </a:pPr>
            <a:r>
              <a:rPr b="0" i="0" lang="en-US" sz="800" u="none" cap="none" strike="noStrike">
                <a:solidFill>
                  <a:srgbClr val="C8D8EE"/>
                </a:solidFill>
                <a:latin typeface="Trebuchet MS"/>
                <a:ea typeface="Trebuchet MS"/>
                <a:cs typeface="Trebuchet MS"/>
                <a:sym typeface="Trebuchet MS"/>
              </a:rPr>
              <a:t>support</a:t>
            </a:r>
            <a:endParaRPr b="0" i="0" sz="800" u="none" cap="none" strike="noStrike">
              <a:solidFill>
                <a:schemeClr val="dk1"/>
              </a:solidFill>
              <a:latin typeface="Calibri"/>
              <a:ea typeface="Calibri"/>
              <a:cs typeface="Calibri"/>
              <a:sym typeface="Calibri"/>
            </a:endParaRPr>
          </a:p>
        </p:txBody>
      </p:sp>
      <p:sp>
        <p:nvSpPr>
          <p:cNvPr id="399" name="Google Shape;399;p14"/>
          <p:cNvSpPr/>
          <p:nvPr/>
        </p:nvSpPr>
        <p:spPr>
          <a:xfrm>
            <a:off x="6629400" y="2944368"/>
            <a:ext cx="2377440" cy="896112"/>
          </a:xfrm>
          <a:prstGeom prst="rect">
            <a:avLst/>
          </a:prstGeom>
          <a:solidFill>
            <a:srgbClr val="0A1628">
              <a:alpha val="50196"/>
            </a:srgbClr>
          </a:solidFill>
          <a:ln cap="flat" cmpd="sng" w="10150">
            <a:solidFill>
              <a:srgbClr val="2DD4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4"/>
          <p:cNvSpPr/>
          <p:nvPr/>
        </p:nvSpPr>
        <p:spPr>
          <a:xfrm>
            <a:off x="6629400" y="2999232"/>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A0"/>
              </a:buClr>
              <a:buSzPts val="1800"/>
              <a:buFont typeface="Trebuchet MS"/>
              <a:buNone/>
            </a:pPr>
            <a:r>
              <a:rPr b="1" i="0" lang="en-US" sz="1800" u="none" cap="none" strike="noStrike">
                <a:solidFill>
                  <a:srgbClr val="2DD4A0"/>
                </a:solidFill>
                <a:latin typeface="Trebuchet MS"/>
                <a:ea typeface="Trebuchet MS"/>
                <a:cs typeface="Trebuchet MS"/>
                <a:sym typeface="Trebuchet MS"/>
              </a:rPr>
              <a:t>3 Moves</a:t>
            </a:r>
            <a:endParaRPr b="0" i="0" sz="1800" u="none" cap="none" strike="noStrike">
              <a:solidFill>
                <a:schemeClr val="dk1"/>
              </a:solidFill>
              <a:latin typeface="Calibri"/>
              <a:ea typeface="Calibri"/>
              <a:cs typeface="Calibri"/>
              <a:sym typeface="Calibri"/>
            </a:endParaRPr>
          </a:p>
        </p:txBody>
      </p:sp>
      <p:sp>
        <p:nvSpPr>
          <p:cNvPr id="401" name="Google Shape;401;p14"/>
          <p:cNvSpPr/>
          <p:nvPr/>
        </p:nvSpPr>
        <p:spPr>
          <a:xfrm>
            <a:off x="6629400" y="3438144"/>
            <a:ext cx="23774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D8EE"/>
              </a:buClr>
              <a:buSzPts val="800"/>
              <a:buFont typeface="Trebuchet MS"/>
              <a:buNone/>
            </a:pPr>
            <a:r>
              <a:rPr b="0" i="0" lang="en-US" sz="800" u="none" cap="none" strike="noStrike">
                <a:solidFill>
                  <a:srgbClr val="C8D8EE"/>
                </a:solidFill>
                <a:latin typeface="Trebuchet MS"/>
                <a:ea typeface="Trebuchet MS"/>
                <a:cs typeface="Trebuchet MS"/>
                <a:sym typeface="Trebuchet MS"/>
              </a:rPr>
              <a:t>To unlock</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EE"/>
              </a:buClr>
              <a:buSzPts val="800"/>
              <a:buFont typeface="Trebuchet MS"/>
              <a:buNone/>
            </a:pPr>
            <a:r>
              <a:rPr b="0" i="0" lang="en-US" sz="800" u="none" cap="none" strike="noStrike">
                <a:solidFill>
                  <a:srgbClr val="C8D8EE"/>
                </a:solidFill>
                <a:latin typeface="Trebuchet MS"/>
                <a:ea typeface="Trebuchet MS"/>
                <a:cs typeface="Trebuchet MS"/>
                <a:sym typeface="Trebuchet MS"/>
              </a:rPr>
              <a:t>billions</a:t>
            </a:r>
            <a:endParaRPr b="0" i="0" sz="800" u="none" cap="none" strike="noStrike">
              <a:solidFill>
                <a:schemeClr val="dk1"/>
              </a:solidFill>
              <a:latin typeface="Calibri"/>
              <a:ea typeface="Calibri"/>
              <a:cs typeface="Calibri"/>
              <a:sym typeface="Calibri"/>
            </a:endParaRPr>
          </a:p>
        </p:txBody>
      </p:sp>
      <p:sp>
        <p:nvSpPr>
          <p:cNvPr id="402" name="Google Shape;402;p14"/>
          <p:cNvSpPr/>
          <p:nvPr/>
        </p:nvSpPr>
        <p:spPr>
          <a:xfrm>
            <a:off x="6629400" y="3968496"/>
            <a:ext cx="2377440" cy="896112"/>
          </a:xfrm>
          <a:prstGeom prst="rect">
            <a:avLst/>
          </a:prstGeom>
          <a:solidFill>
            <a:srgbClr val="0A1628">
              <a:alpha val="50196"/>
            </a:srgbClr>
          </a:solidFill>
          <a:ln cap="flat" cmpd="sng" w="10150">
            <a:solidFill>
              <a:srgbClr val="2DD4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
          <p:cNvSpPr/>
          <p:nvPr/>
        </p:nvSpPr>
        <p:spPr>
          <a:xfrm>
            <a:off x="6629400" y="4023360"/>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A0"/>
              </a:buClr>
              <a:buSzPts val="1800"/>
              <a:buFont typeface="Trebuchet MS"/>
              <a:buNone/>
            </a:pPr>
            <a:r>
              <a:rPr b="1" i="0" lang="en-US" sz="1800" u="none" cap="none" strike="noStrike">
                <a:solidFill>
                  <a:srgbClr val="2DD4A0"/>
                </a:solidFill>
                <a:latin typeface="Trebuchet MS"/>
                <a:ea typeface="Trebuchet MS"/>
                <a:cs typeface="Trebuchet MS"/>
                <a:sym typeface="Trebuchet MS"/>
              </a:rPr>
              <a:t>2053</a:t>
            </a:r>
            <a:endParaRPr b="0" i="0" sz="1800" u="none" cap="none" strike="noStrike">
              <a:solidFill>
                <a:schemeClr val="dk1"/>
              </a:solidFill>
              <a:latin typeface="Calibri"/>
              <a:ea typeface="Calibri"/>
              <a:cs typeface="Calibri"/>
              <a:sym typeface="Calibri"/>
            </a:endParaRPr>
          </a:p>
        </p:txBody>
      </p:sp>
      <p:sp>
        <p:nvSpPr>
          <p:cNvPr id="404" name="Google Shape;404;p14"/>
          <p:cNvSpPr/>
          <p:nvPr/>
        </p:nvSpPr>
        <p:spPr>
          <a:xfrm>
            <a:off x="6629400" y="4462272"/>
            <a:ext cx="23774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D8EE"/>
              </a:buClr>
              <a:buSzPts val="800"/>
              <a:buFont typeface="Trebuchet MS"/>
              <a:buNone/>
            </a:pPr>
            <a:r>
              <a:rPr b="0" i="0" lang="en-US" sz="800" u="none" cap="none" strike="noStrike">
                <a:solidFill>
                  <a:srgbClr val="C8D8EE"/>
                </a:solidFill>
                <a:latin typeface="Trebuchet MS"/>
                <a:ea typeface="Trebuchet MS"/>
                <a:cs typeface="Trebuchet MS"/>
                <a:sym typeface="Trebuchet MS"/>
              </a:rPr>
              <a:t>Climate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C8D8EE"/>
              </a:buClr>
              <a:buSzPts val="800"/>
              <a:buFont typeface="Trebuchet MS"/>
              <a:buNone/>
            </a:pPr>
            <a:r>
              <a:rPr b="0" i="0" lang="en-US" sz="800" u="none" cap="none" strike="noStrike">
                <a:solidFill>
                  <a:srgbClr val="C8D8EE"/>
                </a:solidFill>
                <a:latin typeface="Trebuchet MS"/>
                <a:ea typeface="Trebuchet MS"/>
                <a:cs typeface="Trebuchet MS"/>
                <a:sym typeface="Trebuchet MS"/>
              </a:rPr>
              <a:t>target</a:t>
            </a:r>
            <a:endParaRPr b="0" i="0" sz="800" u="none" cap="none" strike="noStrike">
              <a:solidFill>
                <a:schemeClr val="dk1"/>
              </a:solidFill>
              <a:latin typeface="Calibri"/>
              <a:ea typeface="Calibri"/>
              <a:cs typeface="Calibri"/>
              <a:sym typeface="Calibri"/>
            </a:endParaRPr>
          </a:p>
        </p:txBody>
      </p:sp>
      <p:sp>
        <p:nvSpPr>
          <p:cNvPr id="405" name="Google Shape;405;p14"/>
          <p:cNvSpPr/>
          <p:nvPr/>
        </p:nvSpPr>
        <p:spPr>
          <a:xfrm>
            <a:off x="548640" y="4754880"/>
            <a:ext cx="56692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Trebuchet MS"/>
              <a:buNone/>
            </a:pPr>
            <a:r>
              <a:rPr b="0" i="0" lang="en-US" sz="800" u="none" cap="none" strike="noStrike">
                <a:solidFill>
                  <a:srgbClr val="64748B"/>
                </a:solidFill>
                <a:latin typeface="Trebuchet MS"/>
                <a:ea typeface="Trebuchet MS"/>
                <a:cs typeface="Trebuchet MS"/>
                <a:sym typeface="Trebuchet MS"/>
              </a:rPr>
              <a:t>Bolanle Ayodeji Ibimoroti  ·  Energy Subsidy Intelligence Report  ·  2020–2023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2026-05-17T23:52:28Z</dcterms:created>
  <dc:creator>Bolanle Ayodeji Ibimoroti</dc:creator>
</cp:coreProperties>
</file>